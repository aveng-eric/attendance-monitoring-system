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46453E2-6922-7314-2476-5D545F0AEF22}">
          <p14:sldIdLst>
            <p14:sldId id="256"/>
            <p14:sldId id="257"/>
          </p14:sldIdLst>
        </p14:section>
        <p14:section name="Design" id="{602D739B-26B7-2267-2F6F-67F6DC8E72EC}">
          <p14:sldIdLst>
            <p14:sldId id="258"/>
            <p14:sldId id="259"/>
          </p14:sldIdLst>
        </p14:section>
        <p14:section name="Build" id="{C3C2AE35-CDC2-BE42-92FE-A2DC14B0CE4F}">
          <p14:sldIdLst>
            <p14:sldId id="260"/>
            <p14:sldId id="261"/>
          </p14:sldIdLst>
        </p14:section>
        <p14:section name="Results" id="{E5EDF588-853E-C562-B354-3A1A470DCCCF}">
          <p14:sldIdLst>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97" autoAdjust="0"/>
    <p:restoredTop sz="94610"/>
  </p:normalViewPr>
  <p:slideViewPr>
    <p:cSldViewPr snapToGrid="0" snapToObjects="1">
      <p:cViewPr>
        <p:scale>
          <a:sx n="94" d="100"/>
          <a:sy n="94" d="100"/>
        </p:scale>
        <p:origin x="86" y="2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25426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(about 10 seconds): My project is an Attendance Monitoring and Shortage Prediction System, built in core Java. It takes attendance records, finds students with a shortage, and tells them how many classes they need to recover. The three coloured chips on the right are the three statuses the program assigns: Safe, Warning and Shortage.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40 seconds. Say: Colleges require 75 percent attendance. Tracking it by hand means shortages are found late and nobody knows how many classes are needed to recover. My application imports attendance from a CSV and answers exactly that. Example: Vikram has 71.43 percent in Operating Systems; with 12 classes left he must attend 11, with only 5 left it is impossible.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60 seconds. Walk the diagram: Person is abstract and Student extends it. A Student has many SubjectAttendance records. AttendanceManager keeps students in a HashMap and uses an AttendancePolicy. The policy is an interface with Standard 75 and Strict 85 implementations, so a new rule never changes other classes. AttendanceCalculator holds all the formulas.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60 seconds. Only concepts that are really in the code: classes and constructors with validation; HashMap, LinkedHashMap, TreeMap and ArrayList with Comparator; two custom checked exceptions with try-with-resources; BufferedReader and java.nio.file for files; interface default methods, an enum, overloading and overriding; static final utility class and LocalDate.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60 seconds. Flow: CSV file, CsvImporter parses and validates each line, valid rows go into AttendanceManager, AttendanceCalculator and the policy do the maths and classification, ReportFormatter builds the text shown on screen and saved to a file. Key logic: to reach 75 percent by attending x classes in a row, solve (A+x)/(C+x) = t/100, which gives x = ceil((t*C - 100*A)/(100 - t)). Example 20 of 30: x = 10, and 30 of 40 is exactly 75 percent.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100 seconds. Run: java -cp out attendance.Main --demo (or the menu). Show three things: 1) import and shortage list, 2) one student's report with classes to attend or allowed to miss, 3) the projection. Explain one object path: Main calls AttendanceManager.getStudent, then Student.getSubject, then AttendanceCalculator.project, which returns a Projection object whose describe() text is printed. Backup: screenshot of the same output.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40 seconds. A custom TestRunner with 19 test cases: all 19 passed on the final run. Highlight three: classes needed (20 of 30 gives 10), projection (20 of 30 with 20 left gives 18), and the edge case: a CSV with 4 bad lines out of 6 loads 2 and skips 4 without crashing. State limits honestly: cumulative counts only, console UI, sample data is fictional. No performance claims were measured.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20 seconds. Summary: the application imports attendance, finds shortages and tells students how to recover. The main concept is polymorphism and abstraction through the AttendancePolicy interface: a new rule is a new class and nothing else changes. Future: day-wise attendance with LocalDate and a GUI. Takeaway line on the slide.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evaluator and invite questions. Be ready to explain the class diagram, the AttendancePolicy interface and the classesNeeded formula.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6400800"/>
            <a:ext cx="6400800" cy="274320"/>
          </a:xfrm>
          <a:prstGeom prst="rect">
            <a:avLst/>
          </a:prstGeom>
          <a:noFill/>
          <a:ln/>
        </p:spPr>
        <p:txBody>
          <a:bodyPr wrap="square" lIns="0" tIns="0" rIns="0" bIns="0" rtlCol="0" anchor="ctr"/>
          <a:lstStyle/>
          <a:p>
            <a:pPr marL="0" indent="0">
              <a:buNone/>
            </a:pPr>
            <a:r>
              <a:rPr lang="en-US" sz="1000" dirty="0">
                <a:solidFill>
                  <a:schemeClr val="accent5"/>
                </a:solidFill>
              </a:rPr>
              <a:t>OBJECT ORIENTED PROGRAMMING  •  CORE JAVA</a:t>
            </a:r>
            <a:endParaRPr lang="en-US" sz="1000" dirty="0"/>
          </a:p>
        </p:txBody>
      </p:sp>
      <p:sp>
        <p:nvSpPr>
          <p:cNvPr id="3" name="Text 1"/>
          <p:cNvSpPr>
            <a:spLocks noGrp="1"/>
          </p:cNvSpPr>
          <p:nvPr>
            <p:ph type="title" idx="101" hasCustomPrompt="1"/>
          </p:nvPr>
        </p:nvSpPr>
        <p:spPr>
          <a:xfrm>
            <a:off x="548640" y="685800"/>
            <a:ext cx="11064240" cy="685800"/>
          </a:xfrm>
          <a:prstGeom prst="rect">
            <a:avLst/>
          </a:prstGeom>
          <a:noFill/>
          <a:ln/>
        </p:spPr>
        <p:txBody>
          <a:bodyPr wrap="square" rtlCol="0"/>
          <a:lstStyle>
            <a:lvl1pPr marL="0" indent="0" algn="l">
              <a:buNone/>
              <a:defRPr lang="en-US" sz="3200" b="1" dirty="0">
                <a:solidFill>
                  <a:schemeClr val="tx2"/>
                </a:solidFill>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66"/>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F2A24"/>
        </a:solidFill>
        <a:effectLst/>
      </p:bgPr>
    </p:bg>
    <p:spTree>
      <p:nvGrpSpPr>
        <p:cNvPr id="1" name=""/>
        <p:cNvGrpSpPr/>
        <p:nvPr/>
      </p:nvGrpSpPr>
      <p:grpSpPr>
        <a:xfrm>
          <a:off x="0" y="0"/>
          <a:ext cx="0" cy="0"/>
          <a:chOff x="0" y="0"/>
          <a:chExt cx="0" cy="0"/>
        </a:xfrm>
      </p:grpSpPr>
      <p:sp>
        <p:nvSpPr>
          <p:cNvPr id="2" name="Text 0"/>
          <p:cNvSpPr/>
          <p:nvPr/>
        </p:nvSpPr>
        <p:spPr>
          <a:xfrm>
            <a:off x="548640" y="6400800"/>
            <a:ext cx="6400800" cy="274320"/>
          </a:xfrm>
          <a:prstGeom prst="rect">
            <a:avLst/>
          </a:prstGeom>
          <a:noFill/>
          <a:ln/>
        </p:spPr>
        <p:txBody>
          <a:bodyPr wrap="square" lIns="0" tIns="0" rIns="0" bIns="0" rtlCol="0" anchor="ctr"/>
          <a:lstStyle/>
          <a:p>
            <a:pPr marL="0" indent="0">
              <a:buNone/>
            </a:pPr>
            <a:r>
              <a:rPr lang="en-US" sz="1000" dirty="0">
                <a:solidFill>
                  <a:schemeClr val="accent6"/>
                </a:solidFill>
              </a:rPr>
              <a:t>OBJECT ORIENTED PROGRAMMING  •  CORE JAVA</a:t>
            </a:r>
            <a:endParaRPr lang="en-US" sz="1000" dirty="0"/>
          </a:p>
        </p:txBody>
      </p:sp>
      <p:sp>
        <p:nvSpPr>
          <p:cNvPr id="3" name="Text 1"/>
          <p:cNvSpPr>
            <a:spLocks noGrp="1"/>
          </p:cNvSpPr>
          <p:nvPr>
            <p:ph type="title" idx="101" hasCustomPrompt="1"/>
          </p:nvPr>
        </p:nvSpPr>
        <p:spPr>
          <a:xfrm>
            <a:off x="731520" y="1600200"/>
            <a:ext cx="6949440" cy="228600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6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640080"/>
            <a:ext cx="7315200" cy="320040"/>
          </a:xfrm>
          <a:prstGeom prst="rect">
            <a:avLst/>
          </a:prstGeom>
          <a:noFill/>
          <a:ln/>
        </p:spPr>
        <p:txBody>
          <a:bodyPr wrap="square" lIns="0" tIns="0" rIns="0" bIns="0" rtlCol="0" anchor="ctr"/>
          <a:lstStyle/>
          <a:p>
            <a:pPr marL="0" indent="0">
              <a:buNone/>
            </a:pPr>
            <a:r>
              <a:rPr lang="en-US" sz="1400" b="1" kern="0" spc="300" dirty="0">
                <a:solidFill>
                  <a:schemeClr val="accent2"/>
                </a:solidFill>
              </a:rPr>
              <a:t>OBJECT ORIENTED PROGRAMMING  •  CSC2104</a:t>
            </a:r>
            <a:endParaRPr lang="en-US" sz="1400" dirty="0"/>
          </a:p>
        </p:txBody>
      </p:sp>
      <p:sp>
        <p:nvSpPr>
          <p:cNvPr id="3" name="Text 1"/>
          <p:cNvSpPr txBox="1"/>
          <p:nvPr/>
        </p:nvSpPr>
        <p:spPr>
          <a:xfrm>
            <a:off x="731520" y="1005840"/>
            <a:ext cx="7315200" cy="365760"/>
          </a:xfrm>
          <a:prstGeom prst="rect">
            <a:avLst/>
          </a:prstGeom>
          <a:noFill/>
          <a:ln/>
        </p:spPr>
        <p:txBody>
          <a:bodyPr wrap="square" lIns="0" tIns="0" rIns="0" bIns="0" rtlCol="0" anchor="ctr"/>
          <a:lstStyle/>
          <a:p>
            <a:pPr marL="0" indent="0">
              <a:buNone/>
            </a:pPr>
            <a:r>
              <a:rPr lang="en-US" sz="1800" dirty="0">
                <a:solidFill>
                  <a:schemeClr val="accent6"/>
                </a:solidFill>
              </a:rPr>
              <a:t>Core Java Project Presentation</a:t>
            </a:r>
            <a:endParaRPr lang="en-US" sz="1800" dirty="0"/>
          </a:p>
        </p:txBody>
      </p:sp>
      <p:sp>
        <p:nvSpPr>
          <p:cNvPr id="4" name="Text 1"/>
          <p:cNvSpPr>
            <a:spLocks noGrp="1"/>
          </p:cNvSpPr>
          <p:nvPr>
            <p:ph type="title" idx="101" hasCustomPrompt="1"/>
          </p:nvPr>
        </p:nvSpPr>
        <p:spPr>
          <a:xfrm>
            <a:off x="731520" y="1600200"/>
            <a:ext cx="6949440" cy="2286000"/>
          </a:xfrm>
          <a:prstGeom prst="rect">
            <a:avLst/>
          </a:prstGeom>
          <a:noFill/>
          <a:ln/>
        </p:spPr>
        <p:txBody>
          <a:bodyPr wrap="square" lIns="0" tIns="0" rIns="0" bIns="0" rtlCol="0" anchor="t"/>
          <a:lstStyle/>
          <a:p>
            <a:pPr marL="0" indent="0" algn="l">
              <a:buNone/>
            </a:pPr>
            <a:r>
              <a:rPr lang="en-US" sz="4000" b="1" dirty="0">
                <a:solidFill>
                  <a:schemeClr val="bg1"/>
                </a:solidFill>
              </a:rPr>
              <a:t>Attendance Monitoring &amp; Shortage Prediction System</a:t>
            </a:r>
            <a:endParaRPr lang="en-US" sz="4000" dirty="0"/>
          </a:p>
        </p:txBody>
      </p:sp>
      <p:sp>
        <p:nvSpPr>
          <p:cNvPr id="5" name="Text 3"/>
          <p:cNvSpPr txBox="1"/>
          <p:nvPr/>
        </p:nvSpPr>
        <p:spPr>
          <a:xfrm>
            <a:off x="731520" y="4480560"/>
            <a:ext cx="6949440" cy="914400"/>
          </a:xfrm>
          <a:prstGeom prst="rect">
            <a:avLst/>
          </a:prstGeom>
          <a:noFill/>
          <a:ln/>
        </p:spPr>
        <p:txBody>
          <a:bodyPr wrap="square" lIns="0" tIns="0" rIns="0" bIns="0" rtlCol="0" anchor="ctr"/>
          <a:lstStyle/>
          <a:p>
            <a:pPr marL="0" indent="0">
              <a:spcAft>
                <a:spcPts val="600"/>
              </a:spcAft>
              <a:buNone/>
            </a:pPr>
            <a:r>
              <a:rPr lang="en-US" sz="1800" dirty="0">
                <a:solidFill>
                  <a:schemeClr val="bg1"/>
                </a:solidFill>
              </a:rPr>
              <a:t>NAME : ERIC RUFUS J</a:t>
            </a:r>
          </a:p>
          <a:p>
            <a:pPr marL="0" indent="0">
              <a:spcAft>
                <a:spcPts val="600"/>
              </a:spcAft>
              <a:buNone/>
            </a:pPr>
            <a:r>
              <a:rPr lang="en-US" sz="1800" dirty="0">
                <a:solidFill>
                  <a:schemeClr val="bg1"/>
                </a:solidFill>
              </a:rPr>
              <a:t>REGISTRATION NO : 2503070116</a:t>
            </a:r>
            <a:endParaRPr lang="en-US" sz="1800" dirty="0"/>
          </a:p>
          <a:p>
            <a:pPr marL="0" indent="0">
              <a:spcAft>
                <a:spcPts val="600"/>
              </a:spcAft>
              <a:buNone/>
            </a:pPr>
            <a:r>
              <a:rPr lang="en-US" sz="1800" dirty="0">
                <a:solidFill>
                  <a:schemeClr val="bg1"/>
                </a:solidFill>
              </a:rPr>
              <a:t>SECTION : T4</a:t>
            </a:r>
            <a:endParaRPr lang="en-US" sz="1800" dirty="0"/>
          </a:p>
        </p:txBody>
      </p:sp>
      <p:sp>
        <p:nvSpPr>
          <p:cNvPr id="6" name="Chip SAFE"/>
          <p:cNvSpPr/>
          <p:nvPr/>
        </p:nvSpPr>
        <p:spPr>
          <a:xfrm>
            <a:off x="8229600" y="1600200"/>
            <a:ext cx="3383280" cy="1097280"/>
          </a:xfrm>
          <a:prstGeom prst="roundRect">
            <a:avLst>
              <a:gd name="adj" fmla="val 10000"/>
            </a:avLst>
          </a:prstGeom>
          <a:solidFill>
            <a:schemeClr val="accent1"/>
          </a:solidFill>
          <a:ln/>
        </p:spPr>
      </p:sp>
      <p:sp>
        <p:nvSpPr>
          <p:cNvPr id="7" name="Dot SAFE"/>
          <p:cNvSpPr/>
          <p:nvPr/>
        </p:nvSpPr>
        <p:spPr>
          <a:xfrm>
            <a:off x="8458200" y="1965960"/>
            <a:ext cx="365760" cy="365760"/>
          </a:xfrm>
          <a:prstGeom prst="ellipse">
            <a:avLst/>
          </a:prstGeom>
          <a:solidFill>
            <a:schemeClr val="accent4"/>
          </a:solidFill>
          <a:ln/>
        </p:spPr>
      </p:sp>
      <p:sp>
        <p:nvSpPr>
          <p:cNvPr id="8" name="Text 6"/>
          <p:cNvSpPr txBox="1"/>
          <p:nvPr/>
        </p:nvSpPr>
        <p:spPr>
          <a:xfrm>
            <a:off x="9006840" y="1709928"/>
            <a:ext cx="2468880" cy="548640"/>
          </a:xfrm>
          <a:prstGeom prst="rect">
            <a:avLst/>
          </a:prstGeom>
          <a:noFill/>
          <a:ln/>
        </p:spPr>
        <p:txBody>
          <a:bodyPr wrap="square" lIns="0" tIns="0" rIns="0" bIns="0" rtlCol="0" anchor="ctr"/>
          <a:lstStyle/>
          <a:p>
            <a:pPr marL="0" indent="0">
              <a:buNone/>
            </a:pPr>
            <a:r>
              <a:rPr lang="en-US" sz="3000" b="1" dirty="0">
                <a:solidFill>
                  <a:schemeClr val="bg1"/>
                </a:solidFill>
              </a:rPr>
              <a:t>90.00%</a:t>
            </a:r>
            <a:endParaRPr lang="en-US" sz="3000" dirty="0"/>
          </a:p>
        </p:txBody>
      </p:sp>
      <p:sp>
        <p:nvSpPr>
          <p:cNvPr id="9" name="Text 7"/>
          <p:cNvSpPr txBox="1"/>
          <p:nvPr/>
        </p:nvSpPr>
        <p:spPr>
          <a:xfrm>
            <a:off x="9006840" y="2258568"/>
            <a:ext cx="2468880" cy="320040"/>
          </a:xfrm>
          <a:prstGeom prst="rect">
            <a:avLst/>
          </a:prstGeom>
          <a:noFill/>
          <a:ln/>
        </p:spPr>
        <p:txBody>
          <a:bodyPr wrap="square" lIns="0" tIns="0" rIns="0" bIns="0" rtlCol="0" anchor="ctr"/>
          <a:lstStyle/>
          <a:p>
            <a:pPr marL="0" indent="0">
              <a:buNone/>
            </a:pPr>
            <a:r>
              <a:rPr lang="en-US" sz="1400" b="1" kern="0" spc="200" dirty="0">
                <a:solidFill>
                  <a:schemeClr val="accent6"/>
                </a:solidFill>
              </a:rPr>
              <a:t>SAFE</a:t>
            </a:r>
            <a:endParaRPr lang="en-US" sz="1400" dirty="0"/>
          </a:p>
        </p:txBody>
      </p:sp>
      <p:sp>
        <p:nvSpPr>
          <p:cNvPr id="10" name="Chip WARNING"/>
          <p:cNvSpPr/>
          <p:nvPr/>
        </p:nvSpPr>
        <p:spPr>
          <a:xfrm>
            <a:off x="8229600" y="2971800"/>
            <a:ext cx="3383280" cy="1097280"/>
          </a:xfrm>
          <a:prstGeom prst="roundRect">
            <a:avLst>
              <a:gd name="adj" fmla="val 10000"/>
            </a:avLst>
          </a:prstGeom>
          <a:solidFill>
            <a:schemeClr val="accent1"/>
          </a:solidFill>
          <a:ln/>
        </p:spPr>
      </p:sp>
      <p:sp>
        <p:nvSpPr>
          <p:cNvPr id="11" name="Dot WARNING"/>
          <p:cNvSpPr/>
          <p:nvPr/>
        </p:nvSpPr>
        <p:spPr>
          <a:xfrm>
            <a:off x="8458200" y="3337560"/>
            <a:ext cx="365760" cy="365760"/>
          </a:xfrm>
          <a:prstGeom prst="ellipse">
            <a:avLst/>
          </a:prstGeom>
          <a:solidFill>
            <a:schemeClr val="accent2"/>
          </a:solidFill>
          <a:ln/>
        </p:spPr>
      </p:sp>
      <p:sp>
        <p:nvSpPr>
          <p:cNvPr id="12" name="Text 10"/>
          <p:cNvSpPr txBox="1"/>
          <p:nvPr/>
        </p:nvSpPr>
        <p:spPr>
          <a:xfrm>
            <a:off x="9006840" y="3081528"/>
            <a:ext cx="2468880" cy="548640"/>
          </a:xfrm>
          <a:prstGeom prst="rect">
            <a:avLst/>
          </a:prstGeom>
          <a:noFill/>
          <a:ln/>
        </p:spPr>
        <p:txBody>
          <a:bodyPr wrap="square" lIns="0" tIns="0" rIns="0" bIns="0" rtlCol="0" anchor="ctr"/>
          <a:lstStyle/>
          <a:p>
            <a:pPr marL="0" indent="0">
              <a:buNone/>
            </a:pPr>
            <a:r>
              <a:rPr lang="en-US" sz="3000" b="1" dirty="0">
                <a:solidFill>
                  <a:schemeClr val="bg1"/>
                </a:solidFill>
              </a:rPr>
              <a:t>78.95%</a:t>
            </a:r>
            <a:endParaRPr lang="en-US" sz="3000" dirty="0"/>
          </a:p>
        </p:txBody>
      </p:sp>
      <p:sp>
        <p:nvSpPr>
          <p:cNvPr id="13" name="Text 11"/>
          <p:cNvSpPr txBox="1"/>
          <p:nvPr/>
        </p:nvSpPr>
        <p:spPr>
          <a:xfrm>
            <a:off x="9006840" y="3630168"/>
            <a:ext cx="2468880" cy="320040"/>
          </a:xfrm>
          <a:prstGeom prst="rect">
            <a:avLst/>
          </a:prstGeom>
          <a:noFill/>
          <a:ln/>
        </p:spPr>
        <p:txBody>
          <a:bodyPr wrap="square" lIns="0" tIns="0" rIns="0" bIns="0" rtlCol="0" anchor="ctr"/>
          <a:lstStyle/>
          <a:p>
            <a:pPr marL="0" indent="0">
              <a:buNone/>
            </a:pPr>
            <a:r>
              <a:rPr lang="en-US" sz="1400" b="1" kern="0" spc="200" dirty="0">
                <a:solidFill>
                  <a:schemeClr val="accent6"/>
                </a:solidFill>
              </a:rPr>
              <a:t>WARNING</a:t>
            </a:r>
            <a:endParaRPr lang="en-US" sz="1400" dirty="0"/>
          </a:p>
        </p:txBody>
      </p:sp>
      <p:sp>
        <p:nvSpPr>
          <p:cNvPr id="14" name="Chip SHORTAGE"/>
          <p:cNvSpPr/>
          <p:nvPr/>
        </p:nvSpPr>
        <p:spPr>
          <a:xfrm>
            <a:off x="8229600" y="4343400"/>
            <a:ext cx="3383280" cy="1097280"/>
          </a:xfrm>
          <a:prstGeom prst="roundRect">
            <a:avLst>
              <a:gd name="adj" fmla="val 10000"/>
            </a:avLst>
          </a:prstGeom>
          <a:solidFill>
            <a:schemeClr val="accent1"/>
          </a:solidFill>
          <a:ln/>
        </p:spPr>
      </p:sp>
      <p:sp>
        <p:nvSpPr>
          <p:cNvPr id="15" name="Dot SHORTAGE"/>
          <p:cNvSpPr/>
          <p:nvPr/>
        </p:nvSpPr>
        <p:spPr>
          <a:xfrm>
            <a:off x="8458200" y="4709160"/>
            <a:ext cx="365760" cy="365760"/>
          </a:xfrm>
          <a:prstGeom prst="ellipse">
            <a:avLst/>
          </a:prstGeom>
          <a:solidFill>
            <a:schemeClr val="accent3"/>
          </a:solidFill>
          <a:ln/>
        </p:spPr>
      </p:sp>
      <p:sp>
        <p:nvSpPr>
          <p:cNvPr id="16" name="Text 14"/>
          <p:cNvSpPr txBox="1"/>
          <p:nvPr/>
        </p:nvSpPr>
        <p:spPr>
          <a:xfrm>
            <a:off x="9006840" y="4453128"/>
            <a:ext cx="2468880" cy="548640"/>
          </a:xfrm>
          <a:prstGeom prst="rect">
            <a:avLst/>
          </a:prstGeom>
          <a:noFill/>
          <a:ln/>
        </p:spPr>
        <p:txBody>
          <a:bodyPr wrap="square" lIns="0" tIns="0" rIns="0" bIns="0" rtlCol="0" anchor="ctr"/>
          <a:lstStyle/>
          <a:p>
            <a:pPr marL="0" indent="0">
              <a:buNone/>
            </a:pPr>
            <a:r>
              <a:rPr lang="en-US" sz="3000" b="1" dirty="0">
                <a:solidFill>
                  <a:schemeClr val="bg1"/>
                </a:solidFill>
              </a:rPr>
              <a:t>55.56%</a:t>
            </a:r>
            <a:endParaRPr lang="en-US" sz="3000" dirty="0"/>
          </a:p>
        </p:txBody>
      </p:sp>
      <p:sp>
        <p:nvSpPr>
          <p:cNvPr id="17" name="Text 15"/>
          <p:cNvSpPr txBox="1"/>
          <p:nvPr/>
        </p:nvSpPr>
        <p:spPr>
          <a:xfrm>
            <a:off x="9006840" y="5001768"/>
            <a:ext cx="2468880" cy="320040"/>
          </a:xfrm>
          <a:prstGeom prst="rect">
            <a:avLst/>
          </a:prstGeom>
          <a:noFill/>
          <a:ln/>
        </p:spPr>
        <p:txBody>
          <a:bodyPr wrap="square" lIns="0" tIns="0" rIns="0" bIns="0" rtlCol="0" anchor="ctr"/>
          <a:lstStyle/>
          <a:p>
            <a:pPr marL="0" indent="0">
              <a:buNone/>
            </a:pPr>
            <a:r>
              <a:rPr lang="en-US" sz="1400" b="1" kern="0" spc="200" dirty="0">
                <a:solidFill>
                  <a:schemeClr val="accent6"/>
                </a:solidFill>
              </a:rPr>
              <a:t>SHORTAGE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65760"/>
            <a:ext cx="5486400" cy="274320"/>
          </a:xfrm>
          <a:prstGeom prst="rect">
            <a:avLst/>
          </a:prstGeom>
          <a:noFill/>
          <a:ln/>
        </p:spPr>
        <p:txBody>
          <a:bodyPr wrap="square" lIns="0" tIns="0" rIns="0" bIns="0" rtlCol="0" anchor="ctr"/>
          <a:lstStyle/>
          <a:p>
            <a:pPr marL="0" indent="0">
              <a:buNone/>
            </a:pPr>
            <a:r>
              <a:rPr lang="en-US" sz="1200" b="1" kern="0" spc="300" dirty="0">
                <a:solidFill>
                  <a:schemeClr val="accent1"/>
                </a:solidFill>
              </a:rPr>
              <a:t>01  •  PROBLEM</a:t>
            </a:r>
            <a:endParaRPr lang="en-US" sz="1200" dirty="0"/>
          </a:p>
        </p:txBody>
      </p:sp>
      <p:sp>
        <p:nvSpPr>
          <p:cNvPr id="3" name="Text 1"/>
          <p:cNvSpPr>
            <a:spLocks noGrp="1"/>
          </p:cNvSpPr>
          <p:nvPr>
            <p:ph type="title" idx="101" hasCustomPrompt="1"/>
          </p:nvPr>
        </p:nvSpPr>
        <p:spPr>
          <a:xfrm>
            <a:off x="548640" y="685800"/>
            <a:ext cx="11064240" cy="685800"/>
          </a:xfrm>
          <a:prstGeom prst="rect">
            <a:avLst/>
          </a:prstGeom>
          <a:noFill/>
          <a:ln/>
        </p:spPr>
        <p:txBody>
          <a:bodyPr wrap="square" lIns="0" tIns="0" rIns="0" bIns="0" rtlCol="0" anchor="t"/>
          <a:lstStyle/>
          <a:p>
            <a:pPr marL="0" indent="0" algn="l">
              <a:buNone/>
            </a:pPr>
            <a:r>
              <a:rPr lang="en-US" sz="3200" b="1" dirty="0">
                <a:solidFill>
                  <a:schemeClr val="tx2"/>
                </a:solidFill>
              </a:rPr>
              <a:t>Problem Statement &amp; Use Case</a:t>
            </a:r>
            <a:endParaRPr lang="en-US" sz="3200" dirty="0"/>
          </a:p>
        </p:txBody>
      </p:sp>
      <p:sp>
        <p:nvSpPr>
          <p:cNvPr id="5" name="Number 1"/>
          <p:cNvSpPr/>
          <p:nvPr/>
        </p:nvSpPr>
        <p:spPr>
          <a:xfrm>
            <a:off x="548640" y="1645920"/>
            <a:ext cx="502920" cy="502920"/>
          </a:xfrm>
          <a:prstGeom prst="ellipse">
            <a:avLst/>
          </a:prstGeom>
          <a:solidFill>
            <a:schemeClr val="accent1"/>
          </a:solidFill>
          <a:ln/>
        </p:spPr>
      </p:sp>
      <p:sp>
        <p:nvSpPr>
          <p:cNvPr id="6" name="Text 3"/>
          <p:cNvSpPr txBox="1"/>
          <p:nvPr/>
        </p:nvSpPr>
        <p:spPr>
          <a:xfrm>
            <a:off x="548640" y="164592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7" name="Text 4"/>
          <p:cNvSpPr txBox="1"/>
          <p:nvPr/>
        </p:nvSpPr>
        <p:spPr>
          <a:xfrm>
            <a:off x="1280160" y="1600200"/>
            <a:ext cx="6309360" cy="365760"/>
          </a:xfrm>
          <a:prstGeom prst="rect">
            <a:avLst/>
          </a:prstGeom>
          <a:noFill/>
          <a:ln/>
        </p:spPr>
        <p:txBody>
          <a:bodyPr wrap="square" lIns="0" tIns="0" rIns="0" bIns="0" rtlCol="0" anchor="ctr"/>
          <a:lstStyle/>
          <a:p>
            <a:pPr marL="0" indent="0">
              <a:buNone/>
            </a:pPr>
            <a:r>
              <a:rPr lang="en-US" sz="1800" b="1" dirty="0">
                <a:solidFill>
                  <a:schemeClr val="accent1"/>
                </a:solidFill>
              </a:rPr>
              <a:t>The problem</a:t>
            </a:r>
            <a:endParaRPr lang="en-US" sz="1800" dirty="0"/>
          </a:p>
        </p:txBody>
      </p:sp>
      <p:sp>
        <p:nvSpPr>
          <p:cNvPr id="8" name="Text 5"/>
          <p:cNvSpPr txBox="1"/>
          <p:nvPr/>
        </p:nvSpPr>
        <p:spPr>
          <a:xfrm>
            <a:off x="1280160" y="1984248"/>
            <a:ext cx="6309360" cy="1051560"/>
          </a:xfrm>
          <a:prstGeom prst="rect">
            <a:avLst/>
          </a:prstGeom>
          <a:noFill/>
          <a:ln/>
        </p:spPr>
        <p:txBody>
          <a:bodyPr wrap="square" lIns="0" tIns="0" rIns="0" bIns="0" rtlCol="0" anchor="t"/>
          <a:lstStyle/>
          <a:p>
            <a:pPr marL="0" indent="0">
              <a:buNone/>
            </a:pPr>
            <a:r>
              <a:rPr lang="en-US" sz="1400" dirty="0">
                <a:solidFill>
                  <a:schemeClr val="tx1"/>
                </a:solidFill>
              </a:rPr>
              <a:t>Students need 75% attendance to be eligible for exams, but percentages are tracked by hand. Shortages surface too late, and nobody knows how many classes a student needs to recover.</a:t>
            </a:r>
            <a:endParaRPr lang="en-US" sz="1400" dirty="0"/>
          </a:p>
        </p:txBody>
      </p:sp>
      <p:sp>
        <p:nvSpPr>
          <p:cNvPr id="9" name="Number 2"/>
          <p:cNvSpPr/>
          <p:nvPr/>
        </p:nvSpPr>
        <p:spPr>
          <a:xfrm>
            <a:off x="548640" y="3200400"/>
            <a:ext cx="502920" cy="502920"/>
          </a:xfrm>
          <a:prstGeom prst="ellipse">
            <a:avLst/>
          </a:prstGeom>
          <a:solidFill>
            <a:schemeClr val="accent1"/>
          </a:solidFill>
          <a:ln/>
        </p:spPr>
      </p:sp>
      <p:sp>
        <p:nvSpPr>
          <p:cNvPr id="10" name="Text 7"/>
          <p:cNvSpPr txBox="1"/>
          <p:nvPr/>
        </p:nvSpPr>
        <p:spPr>
          <a:xfrm>
            <a:off x="548640" y="320040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1" name="Text 8"/>
          <p:cNvSpPr txBox="1"/>
          <p:nvPr/>
        </p:nvSpPr>
        <p:spPr>
          <a:xfrm>
            <a:off x="1280160" y="3154680"/>
            <a:ext cx="6309360" cy="365760"/>
          </a:xfrm>
          <a:prstGeom prst="rect">
            <a:avLst/>
          </a:prstGeom>
          <a:noFill/>
          <a:ln/>
        </p:spPr>
        <p:txBody>
          <a:bodyPr wrap="square" lIns="0" tIns="0" rIns="0" bIns="0" rtlCol="0" anchor="ctr"/>
          <a:lstStyle/>
          <a:p>
            <a:pPr marL="0" indent="0">
              <a:buNone/>
            </a:pPr>
            <a:r>
              <a:rPr lang="en-US" sz="1800" b="1" dirty="0">
                <a:solidFill>
                  <a:schemeClr val="accent1"/>
                </a:solidFill>
              </a:rPr>
              <a:t>Users and one use case</a:t>
            </a:r>
            <a:endParaRPr lang="en-US" sz="1800" dirty="0"/>
          </a:p>
        </p:txBody>
      </p:sp>
      <p:sp>
        <p:nvSpPr>
          <p:cNvPr id="12" name="Text 9"/>
          <p:cNvSpPr txBox="1"/>
          <p:nvPr/>
        </p:nvSpPr>
        <p:spPr>
          <a:xfrm>
            <a:off x="1280160" y="3538728"/>
            <a:ext cx="6309360" cy="1051560"/>
          </a:xfrm>
          <a:prstGeom prst="rect">
            <a:avLst/>
          </a:prstGeom>
          <a:noFill/>
          <a:ln/>
        </p:spPr>
        <p:txBody>
          <a:bodyPr wrap="square" lIns="0" tIns="0" rIns="0" bIns="0" rtlCol="0" anchor="t"/>
          <a:lstStyle/>
          <a:p>
            <a:pPr marL="0" indent="0">
              <a:buNone/>
            </a:pPr>
            <a:r>
              <a:rPr lang="en-US" sz="1400" dirty="0">
                <a:solidFill>
                  <a:schemeClr val="tx1"/>
                </a:solidFill>
              </a:rPr>
              <a:t>Students and class advisors. An advisor imports the CSV and sees Vikram Rao at 71.43% in Operating Systems: with 12 classes left he must attend 11; with only 5 left it is impossible.</a:t>
            </a:r>
            <a:endParaRPr lang="en-US" sz="1400" dirty="0"/>
          </a:p>
        </p:txBody>
      </p:sp>
      <p:sp>
        <p:nvSpPr>
          <p:cNvPr id="13" name="Number 3"/>
          <p:cNvSpPr/>
          <p:nvPr/>
        </p:nvSpPr>
        <p:spPr>
          <a:xfrm>
            <a:off x="548640" y="4754880"/>
            <a:ext cx="502920" cy="502920"/>
          </a:xfrm>
          <a:prstGeom prst="ellipse">
            <a:avLst/>
          </a:prstGeom>
          <a:solidFill>
            <a:schemeClr val="accent1"/>
          </a:solidFill>
          <a:ln/>
        </p:spPr>
      </p:sp>
      <p:sp>
        <p:nvSpPr>
          <p:cNvPr id="14" name="Text 11"/>
          <p:cNvSpPr txBox="1"/>
          <p:nvPr/>
        </p:nvSpPr>
        <p:spPr>
          <a:xfrm>
            <a:off x="548640" y="475488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5" name="Text 12"/>
          <p:cNvSpPr txBox="1"/>
          <p:nvPr/>
        </p:nvSpPr>
        <p:spPr>
          <a:xfrm>
            <a:off x="1280160" y="4709160"/>
            <a:ext cx="6309360" cy="365760"/>
          </a:xfrm>
          <a:prstGeom prst="rect">
            <a:avLst/>
          </a:prstGeom>
          <a:noFill/>
          <a:ln/>
        </p:spPr>
        <p:txBody>
          <a:bodyPr wrap="square" lIns="0" tIns="0" rIns="0" bIns="0" rtlCol="0" anchor="ctr"/>
          <a:lstStyle/>
          <a:p>
            <a:pPr marL="0" indent="0">
              <a:buNone/>
            </a:pPr>
            <a:r>
              <a:rPr lang="en-US" sz="1800" b="1" dirty="0">
                <a:solidFill>
                  <a:schemeClr val="accent1"/>
                </a:solidFill>
              </a:rPr>
              <a:t>Scope</a:t>
            </a:r>
            <a:endParaRPr lang="en-US" sz="1800" dirty="0"/>
          </a:p>
        </p:txBody>
      </p:sp>
      <p:sp>
        <p:nvSpPr>
          <p:cNvPr id="16" name="Text 13"/>
          <p:cNvSpPr txBox="1"/>
          <p:nvPr/>
        </p:nvSpPr>
        <p:spPr>
          <a:xfrm>
            <a:off x="1280160" y="5093208"/>
            <a:ext cx="6309360" cy="1051560"/>
          </a:xfrm>
          <a:prstGeom prst="rect">
            <a:avLst/>
          </a:prstGeom>
          <a:noFill/>
          <a:ln/>
        </p:spPr>
        <p:txBody>
          <a:bodyPr wrap="square" lIns="0" tIns="0" rIns="0" bIns="0" rtlCol="0" anchor="t"/>
          <a:lstStyle/>
          <a:p>
            <a:pPr marL="0" indent="0">
              <a:buNone/>
            </a:pPr>
            <a:r>
              <a:rPr lang="en-US" sz="1400" dirty="0">
                <a:solidFill>
                  <a:schemeClr val="tx1"/>
                </a:solidFill>
              </a:rPr>
              <a:t>CSV import, subject-wise percentages, shortage detection, classes needed or allowed to miss, projection and report export. Console application working on cumulative class counts.</a:t>
            </a:r>
            <a:endParaRPr lang="en-US" sz="1400" dirty="0"/>
          </a:p>
        </p:txBody>
      </p:sp>
      <p:sp>
        <p:nvSpPr>
          <p:cNvPr id="17" name="Objective card"/>
          <p:cNvSpPr/>
          <p:nvPr/>
        </p:nvSpPr>
        <p:spPr>
          <a:xfrm>
            <a:off x="8046720" y="1600200"/>
            <a:ext cx="3566160" cy="4480560"/>
          </a:xfrm>
          <a:prstGeom prst="roundRect">
            <a:avLst>
              <a:gd name="adj" fmla="val 2564"/>
            </a:avLst>
          </a:prstGeom>
          <a:solidFill>
            <a:schemeClr val="tx2"/>
          </a:solidFill>
          <a:ln/>
        </p:spPr>
      </p:sp>
      <p:sp>
        <p:nvSpPr>
          <p:cNvPr id="18" name="Text 15"/>
          <p:cNvSpPr txBox="1"/>
          <p:nvPr/>
        </p:nvSpPr>
        <p:spPr>
          <a:xfrm>
            <a:off x="8321040" y="1874520"/>
            <a:ext cx="3017520" cy="320040"/>
          </a:xfrm>
          <a:prstGeom prst="rect">
            <a:avLst/>
          </a:prstGeom>
          <a:noFill/>
          <a:ln/>
        </p:spPr>
        <p:txBody>
          <a:bodyPr wrap="square" lIns="0" tIns="0" rIns="0" bIns="0" rtlCol="0" anchor="ctr"/>
          <a:lstStyle/>
          <a:p>
            <a:pPr marL="0" indent="0">
              <a:buNone/>
            </a:pPr>
            <a:r>
              <a:rPr lang="en-US" sz="1400" b="1" kern="0" spc="300" dirty="0">
                <a:solidFill>
                  <a:schemeClr val="accent2"/>
                </a:solidFill>
              </a:rPr>
              <a:t>OBJECTIVE</a:t>
            </a:r>
            <a:endParaRPr lang="en-US" sz="1400" dirty="0"/>
          </a:p>
        </p:txBody>
      </p:sp>
      <p:sp>
        <p:nvSpPr>
          <p:cNvPr id="19" name="Text 16"/>
          <p:cNvSpPr txBox="1"/>
          <p:nvPr/>
        </p:nvSpPr>
        <p:spPr>
          <a:xfrm>
            <a:off x="8321040" y="2286000"/>
            <a:ext cx="3017520" cy="3291840"/>
          </a:xfrm>
          <a:prstGeom prst="rect">
            <a:avLst/>
          </a:prstGeom>
          <a:noFill/>
          <a:ln/>
        </p:spPr>
        <p:txBody>
          <a:bodyPr wrap="square" lIns="0" tIns="0" rIns="0" bIns="0" rtlCol="0" anchor="t"/>
          <a:lstStyle/>
          <a:p>
            <a:pPr marL="0" indent="0">
              <a:buNone/>
            </a:pPr>
            <a:r>
              <a:rPr lang="en-US" sz="2200" dirty="0">
                <a:solidFill>
                  <a:schemeClr val="bg1"/>
                </a:solidFill>
              </a:rPr>
              <a:t>Import attendance records, detect shortages, and tell every student exactly how many classes they need to meet the requirement.</a:t>
            </a:r>
            <a:endParaRPr lang="en-US" sz="2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6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65760"/>
            <a:ext cx="5486400" cy="274320"/>
          </a:xfrm>
          <a:prstGeom prst="rect">
            <a:avLst/>
          </a:prstGeom>
          <a:noFill/>
          <a:ln/>
        </p:spPr>
        <p:txBody>
          <a:bodyPr wrap="square" lIns="0" tIns="0" rIns="0" bIns="0" rtlCol="0" anchor="ctr"/>
          <a:lstStyle/>
          <a:p>
            <a:pPr marL="0" indent="0">
              <a:buNone/>
            </a:pPr>
            <a:r>
              <a:rPr lang="en-US" sz="1200" b="1" kern="0" spc="300" dirty="0">
                <a:solidFill>
                  <a:schemeClr val="accent1"/>
                </a:solidFill>
              </a:rPr>
              <a:t>02  •  OOP DESIGN</a:t>
            </a:r>
            <a:endParaRPr lang="en-US" sz="1200" dirty="0"/>
          </a:p>
        </p:txBody>
      </p:sp>
      <p:sp>
        <p:nvSpPr>
          <p:cNvPr id="3" name="Text 1"/>
          <p:cNvSpPr>
            <a:spLocks noGrp="1"/>
          </p:cNvSpPr>
          <p:nvPr>
            <p:ph type="title" idx="101" hasCustomPrompt="1"/>
          </p:nvPr>
        </p:nvSpPr>
        <p:spPr>
          <a:xfrm>
            <a:off x="548640" y="685800"/>
            <a:ext cx="11064240" cy="685800"/>
          </a:xfrm>
          <a:prstGeom prst="rect">
            <a:avLst/>
          </a:prstGeom>
          <a:noFill/>
          <a:ln/>
        </p:spPr>
        <p:txBody>
          <a:bodyPr wrap="square" lIns="0" tIns="0" rIns="0" bIns="0" rtlCol="0" anchor="t"/>
          <a:lstStyle/>
          <a:p>
            <a:pPr marL="0" indent="0" algn="l">
              <a:buNone/>
            </a:pPr>
            <a:r>
              <a:rPr lang="en-US" sz="3200" b="1" dirty="0">
                <a:solidFill>
                  <a:schemeClr val="tx2"/>
                </a:solidFill>
              </a:rPr>
              <a:t>Object-Oriented Design</a:t>
            </a:r>
            <a:endParaRPr lang="en-US" sz="3200" dirty="0"/>
          </a:p>
        </p:txBody>
      </p:sp>
      <p:sp>
        <p:nvSpPr>
          <p:cNvPr id="5" name="Class Person"/>
          <p:cNvSpPr/>
          <p:nvPr/>
        </p:nvSpPr>
        <p:spPr>
          <a:xfrm>
            <a:off x="548640" y="1508760"/>
            <a:ext cx="2103120" cy="914400"/>
          </a:xfrm>
          <a:prstGeom prst="rect">
            <a:avLst/>
          </a:prstGeom>
          <a:solidFill>
            <a:schemeClr val="bg2"/>
          </a:solidFill>
          <a:ln w="15875">
            <a:solidFill>
              <a:schemeClr val="accent1"/>
            </a:solidFill>
            <a:prstDash val="solid"/>
          </a:ln>
        </p:spPr>
      </p:sp>
      <p:sp>
        <p:nvSpPr>
          <p:cNvPr id="6" name="Text 3"/>
          <p:cNvSpPr txBox="1"/>
          <p:nvPr/>
        </p:nvSpPr>
        <p:spPr>
          <a:xfrm>
            <a:off x="548640" y="1508760"/>
            <a:ext cx="2103120" cy="914400"/>
          </a:xfrm>
          <a:prstGeom prst="rect">
            <a:avLst/>
          </a:prstGeom>
          <a:noFill/>
          <a:ln/>
        </p:spPr>
        <p:txBody>
          <a:bodyPr wrap="square" lIns="508" tIns="508" rIns="508" bIns="508" rtlCol="0" anchor="ctr"/>
          <a:lstStyle/>
          <a:p>
            <a:pPr marL="0" indent="0" algn="ctr">
              <a:buNone/>
            </a:pPr>
            <a:r>
              <a:rPr lang="en-US" sz="1400" b="1" dirty="0">
                <a:solidFill>
                  <a:schemeClr val="tx2"/>
                </a:solidFill>
              </a:rPr>
              <a:t>Person</a:t>
            </a:r>
            <a:endParaRPr lang="en-US" sz="1400" dirty="0"/>
          </a:p>
          <a:p>
            <a:pPr marL="0" indent="0" algn="ctr">
              <a:buNone/>
            </a:pPr>
            <a:r>
              <a:rPr lang="en-US" sz="1100" dirty="0">
                <a:solidFill>
                  <a:schemeClr val="accent5"/>
                </a:solidFill>
              </a:rPr>
              <a:t>«abstract»  getRole()</a:t>
            </a:r>
            <a:endParaRPr lang="en-US" sz="1400" dirty="0"/>
          </a:p>
        </p:txBody>
      </p:sp>
      <p:sp>
        <p:nvSpPr>
          <p:cNvPr id="7" name="Class Student"/>
          <p:cNvSpPr/>
          <p:nvPr/>
        </p:nvSpPr>
        <p:spPr>
          <a:xfrm>
            <a:off x="548640" y="3017520"/>
            <a:ext cx="2103120" cy="914400"/>
          </a:xfrm>
          <a:prstGeom prst="rect">
            <a:avLst/>
          </a:prstGeom>
          <a:solidFill>
            <a:schemeClr val="bg2"/>
          </a:solidFill>
          <a:ln w="15875">
            <a:solidFill>
              <a:schemeClr val="accent1"/>
            </a:solidFill>
            <a:prstDash val="solid"/>
          </a:ln>
        </p:spPr>
      </p:sp>
      <p:sp>
        <p:nvSpPr>
          <p:cNvPr id="8" name="Text 5"/>
          <p:cNvSpPr txBox="1"/>
          <p:nvPr/>
        </p:nvSpPr>
        <p:spPr>
          <a:xfrm>
            <a:off x="548640" y="3017520"/>
            <a:ext cx="2103120" cy="914400"/>
          </a:xfrm>
          <a:prstGeom prst="rect">
            <a:avLst/>
          </a:prstGeom>
          <a:noFill/>
          <a:ln/>
        </p:spPr>
        <p:txBody>
          <a:bodyPr wrap="square" lIns="508" tIns="508" rIns="508" bIns="508" rtlCol="0" anchor="ctr"/>
          <a:lstStyle/>
          <a:p>
            <a:pPr marL="0" indent="0" algn="ctr">
              <a:buNone/>
            </a:pPr>
            <a:r>
              <a:rPr lang="en-US" sz="1400" b="1" dirty="0">
                <a:solidFill>
                  <a:schemeClr val="tx2"/>
                </a:solidFill>
              </a:rPr>
              <a:t>Student</a:t>
            </a:r>
            <a:endParaRPr lang="en-US" sz="1400" dirty="0"/>
          </a:p>
          <a:p>
            <a:pPr marL="0" indent="0" algn="ctr">
              <a:buNone/>
            </a:pPr>
            <a:r>
              <a:rPr lang="en-US" sz="1100" dirty="0">
                <a:solidFill>
                  <a:schemeClr val="accent5"/>
                </a:solidFill>
              </a:rPr>
              <a:t>extends Person</a:t>
            </a:r>
            <a:endParaRPr lang="en-US" sz="1400" dirty="0"/>
          </a:p>
        </p:txBody>
      </p:sp>
      <p:sp>
        <p:nvSpPr>
          <p:cNvPr id="9" name="Class SubjectAttendance"/>
          <p:cNvSpPr/>
          <p:nvPr/>
        </p:nvSpPr>
        <p:spPr>
          <a:xfrm>
            <a:off x="548640" y="4526280"/>
            <a:ext cx="2103120" cy="914400"/>
          </a:xfrm>
          <a:prstGeom prst="rect">
            <a:avLst/>
          </a:prstGeom>
          <a:solidFill>
            <a:schemeClr val="bg2"/>
          </a:solidFill>
          <a:ln w="15875">
            <a:solidFill>
              <a:schemeClr val="accent1"/>
            </a:solidFill>
            <a:prstDash val="solid"/>
          </a:ln>
        </p:spPr>
      </p:sp>
      <p:sp>
        <p:nvSpPr>
          <p:cNvPr id="10" name="Text 7"/>
          <p:cNvSpPr txBox="1"/>
          <p:nvPr/>
        </p:nvSpPr>
        <p:spPr>
          <a:xfrm>
            <a:off x="548640" y="4526280"/>
            <a:ext cx="2103120" cy="914400"/>
          </a:xfrm>
          <a:prstGeom prst="rect">
            <a:avLst/>
          </a:prstGeom>
          <a:noFill/>
          <a:ln/>
        </p:spPr>
        <p:txBody>
          <a:bodyPr wrap="square" lIns="508" tIns="508" rIns="508" bIns="508" rtlCol="0" anchor="ctr"/>
          <a:lstStyle/>
          <a:p>
            <a:pPr marL="0" indent="0" algn="ctr">
              <a:buNone/>
            </a:pPr>
            <a:r>
              <a:rPr lang="en-US" sz="1400" b="1" dirty="0">
                <a:solidFill>
                  <a:schemeClr val="tx2"/>
                </a:solidFill>
              </a:rPr>
              <a:t>SubjectAttendance</a:t>
            </a:r>
            <a:endParaRPr lang="en-US" sz="1400" dirty="0"/>
          </a:p>
          <a:p>
            <a:pPr marL="0" indent="0" algn="ctr">
              <a:buNone/>
            </a:pPr>
            <a:r>
              <a:rPr lang="en-US" sz="1100" dirty="0">
                <a:solidFill>
                  <a:schemeClr val="accent5"/>
                </a:solidFill>
              </a:rPr>
              <a:t>conducted, attended</a:t>
            </a:r>
            <a:endParaRPr lang="en-US" sz="1400" dirty="0"/>
          </a:p>
        </p:txBody>
      </p:sp>
      <p:sp>
        <p:nvSpPr>
          <p:cNvPr id="11" name="Class Main"/>
          <p:cNvSpPr/>
          <p:nvPr/>
        </p:nvSpPr>
        <p:spPr>
          <a:xfrm>
            <a:off x="3383280" y="1508760"/>
            <a:ext cx="2286000" cy="914400"/>
          </a:xfrm>
          <a:prstGeom prst="rect">
            <a:avLst/>
          </a:prstGeom>
          <a:solidFill>
            <a:schemeClr val="bg2"/>
          </a:solidFill>
          <a:ln w="15875">
            <a:solidFill>
              <a:schemeClr val="accent1"/>
            </a:solidFill>
            <a:prstDash val="solid"/>
          </a:ln>
        </p:spPr>
      </p:sp>
      <p:sp>
        <p:nvSpPr>
          <p:cNvPr id="12" name="Text 9"/>
          <p:cNvSpPr txBox="1"/>
          <p:nvPr/>
        </p:nvSpPr>
        <p:spPr>
          <a:xfrm>
            <a:off x="3383280" y="1508760"/>
            <a:ext cx="2286000" cy="914400"/>
          </a:xfrm>
          <a:prstGeom prst="rect">
            <a:avLst/>
          </a:prstGeom>
          <a:noFill/>
          <a:ln/>
        </p:spPr>
        <p:txBody>
          <a:bodyPr wrap="square" lIns="508" tIns="508" rIns="508" bIns="508" rtlCol="0" anchor="ctr"/>
          <a:lstStyle/>
          <a:p>
            <a:pPr marL="0" indent="0" algn="ctr">
              <a:buNone/>
            </a:pPr>
            <a:r>
              <a:rPr lang="en-US" sz="1400" b="1" dirty="0">
                <a:solidFill>
                  <a:schemeClr val="tx2"/>
                </a:solidFill>
              </a:rPr>
              <a:t>Main</a:t>
            </a:r>
            <a:endParaRPr lang="en-US" sz="1400" dirty="0"/>
          </a:p>
          <a:p>
            <a:pPr marL="0" indent="0" algn="ctr">
              <a:buNone/>
            </a:pPr>
            <a:r>
              <a:rPr lang="en-US" sz="1100" dirty="0">
                <a:solidFill>
                  <a:schemeClr val="accent5"/>
                </a:solidFill>
              </a:rPr>
              <a:t>console menu / demo</a:t>
            </a:r>
            <a:endParaRPr lang="en-US" sz="1400" dirty="0"/>
          </a:p>
        </p:txBody>
      </p:sp>
      <p:sp>
        <p:nvSpPr>
          <p:cNvPr id="13" name="Class AttendanceManager"/>
          <p:cNvSpPr/>
          <p:nvPr/>
        </p:nvSpPr>
        <p:spPr>
          <a:xfrm>
            <a:off x="3383280" y="3017520"/>
            <a:ext cx="2286000" cy="914400"/>
          </a:xfrm>
          <a:prstGeom prst="rect">
            <a:avLst/>
          </a:prstGeom>
          <a:solidFill>
            <a:schemeClr val="bg2"/>
          </a:solidFill>
          <a:ln w="15875">
            <a:solidFill>
              <a:schemeClr val="accent1"/>
            </a:solidFill>
            <a:prstDash val="solid"/>
          </a:ln>
        </p:spPr>
      </p:sp>
      <p:sp>
        <p:nvSpPr>
          <p:cNvPr id="14" name="Text 11"/>
          <p:cNvSpPr txBox="1"/>
          <p:nvPr/>
        </p:nvSpPr>
        <p:spPr>
          <a:xfrm>
            <a:off x="3383280" y="3017520"/>
            <a:ext cx="2286000" cy="914400"/>
          </a:xfrm>
          <a:prstGeom prst="rect">
            <a:avLst/>
          </a:prstGeom>
          <a:noFill/>
          <a:ln/>
        </p:spPr>
        <p:txBody>
          <a:bodyPr wrap="square" lIns="508" tIns="508" rIns="508" bIns="508" rtlCol="0" anchor="ctr"/>
          <a:lstStyle/>
          <a:p>
            <a:pPr marL="0" indent="0" algn="ctr">
              <a:buNone/>
            </a:pPr>
            <a:r>
              <a:rPr lang="en-US" sz="1400" b="1" dirty="0">
                <a:solidFill>
                  <a:schemeClr val="tx2"/>
                </a:solidFill>
              </a:rPr>
              <a:t>AttendanceManager</a:t>
            </a:r>
            <a:endParaRPr lang="en-US" sz="1400" dirty="0"/>
          </a:p>
          <a:p>
            <a:pPr marL="0" indent="0" algn="ctr">
              <a:buNone/>
            </a:pPr>
            <a:r>
              <a:rPr lang="en-US" sz="1100" dirty="0">
                <a:solidFill>
                  <a:schemeClr val="accent5"/>
                </a:solidFill>
              </a:rPr>
              <a:t>HashMap&lt;String, Student&gt;</a:t>
            </a:r>
            <a:endParaRPr lang="en-US" sz="1400" dirty="0"/>
          </a:p>
        </p:txBody>
      </p:sp>
      <p:sp>
        <p:nvSpPr>
          <p:cNvPr id="15" name="Class AttendanceCalculator"/>
          <p:cNvSpPr/>
          <p:nvPr/>
        </p:nvSpPr>
        <p:spPr>
          <a:xfrm>
            <a:off x="3383280" y="4526280"/>
            <a:ext cx="2286000" cy="914400"/>
          </a:xfrm>
          <a:prstGeom prst="rect">
            <a:avLst/>
          </a:prstGeom>
          <a:solidFill>
            <a:schemeClr val="bg2"/>
          </a:solidFill>
          <a:ln w="15875">
            <a:solidFill>
              <a:schemeClr val="accent1"/>
            </a:solidFill>
            <a:prstDash val="solid"/>
          </a:ln>
        </p:spPr>
      </p:sp>
      <p:sp>
        <p:nvSpPr>
          <p:cNvPr id="16" name="Text 13"/>
          <p:cNvSpPr txBox="1"/>
          <p:nvPr/>
        </p:nvSpPr>
        <p:spPr>
          <a:xfrm>
            <a:off x="3383280" y="4526280"/>
            <a:ext cx="2286000" cy="914400"/>
          </a:xfrm>
          <a:prstGeom prst="rect">
            <a:avLst/>
          </a:prstGeom>
          <a:noFill/>
          <a:ln/>
        </p:spPr>
        <p:txBody>
          <a:bodyPr wrap="square" lIns="508" tIns="508" rIns="508" bIns="508" rtlCol="0" anchor="ctr"/>
          <a:lstStyle/>
          <a:p>
            <a:pPr marL="0" indent="0" algn="ctr">
              <a:buNone/>
            </a:pPr>
            <a:r>
              <a:rPr lang="en-US" sz="1400" b="1" dirty="0">
                <a:solidFill>
                  <a:schemeClr val="tx2"/>
                </a:solidFill>
              </a:rPr>
              <a:t>AttendanceCalculator</a:t>
            </a:r>
            <a:endParaRPr lang="en-US" sz="1400" dirty="0"/>
          </a:p>
          <a:p>
            <a:pPr marL="0" indent="0" algn="ctr">
              <a:buNone/>
            </a:pPr>
            <a:r>
              <a:rPr lang="en-US" sz="1100" dirty="0">
                <a:solidFill>
                  <a:schemeClr val="accent5"/>
                </a:solidFill>
              </a:rPr>
              <a:t>static formulas</a:t>
            </a:r>
            <a:endParaRPr lang="en-US" sz="1400" dirty="0"/>
          </a:p>
        </p:txBody>
      </p:sp>
      <p:sp>
        <p:nvSpPr>
          <p:cNvPr id="17" name="Class AttendancePolicy"/>
          <p:cNvSpPr/>
          <p:nvPr/>
        </p:nvSpPr>
        <p:spPr>
          <a:xfrm>
            <a:off x="6126480" y="3017520"/>
            <a:ext cx="2468880" cy="914400"/>
          </a:xfrm>
          <a:prstGeom prst="rect">
            <a:avLst/>
          </a:prstGeom>
          <a:solidFill>
            <a:schemeClr val="bg2"/>
          </a:solidFill>
          <a:ln w="15875">
            <a:solidFill>
              <a:schemeClr val="accent1"/>
            </a:solidFill>
            <a:prstDash val="solid"/>
          </a:ln>
        </p:spPr>
      </p:sp>
      <p:sp>
        <p:nvSpPr>
          <p:cNvPr id="18" name="Text 15"/>
          <p:cNvSpPr txBox="1"/>
          <p:nvPr/>
        </p:nvSpPr>
        <p:spPr>
          <a:xfrm>
            <a:off x="6126480" y="3017520"/>
            <a:ext cx="2468880" cy="914400"/>
          </a:xfrm>
          <a:prstGeom prst="rect">
            <a:avLst/>
          </a:prstGeom>
          <a:noFill/>
          <a:ln/>
        </p:spPr>
        <p:txBody>
          <a:bodyPr wrap="square" lIns="508" tIns="508" rIns="508" bIns="508" rtlCol="0" anchor="ctr"/>
          <a:lstStyle/>
          <a:p>
            <a:pPr marL="0" indent="0" algn="ctr">
              <a:buNone/>
            </a:pPr>
            <a:r>
              <a:rPr lang="en-US" sz="1400" b="1" dirty="0">
                <a:solidFill>
                  <a:schemeClr val="tx2"/>
                </a:solidFill>
              </a:rPr>
              <a:t>AttendancePolicy</a:t>
            </a:r>
            <a:endParaRPr lang="en-US" sz="1400" dirty="0"/>
          </a:p>
          <a:p>
            <a:pPr marL="0" indent="0" algn="ctr">
              <a:buNone/>
            </a:pPr>
            <a:r>
              <a:rPr lang="en-US" sz="1100" dirty="0">
                <a:solidFill>
                  <a:schemeClr val="accent5"/>
                </a:solidFill>
              </a:rPr>
              <a:t>«interface»  classify()</a:t>
            </a:r>
            <a:endParaRPr lang="en-US" sz="1400" dirty="0"/>
          </a:p>
        </p:txBody>
      </p:sp>
      <p:sp>
        <p:nvSpPr>
          <p:cNvPr id="19" name="Class Standard"/>
          <p:cNvSpPr/>
          <p:nvPr/>
        </p:nvSpPr>
        <p:spPr>
          <a:xfrm>
            <a:off x="6126480" y="4526280"/>
            <a:ext cx="1188720" cy="914400"/>
          </a:xfrm>
          <a:prstGeom prst="rect">
            <a:avLst/>
          </a:prstGeom>
          <a:solidFill>
            <a:schemeClr val="bg2"/>
          </a:solidFill>
          <a:ln w="15875">
            <a:solidFill>
              <a:schemeClr val="accent1"/>
            </a:solidFill>
            <a:prstDash val="solid"/>
          </a:ln>
        </p:spPr>
      </p:sp>
      <p:sp>
        <p:nvSpPr>
          <p:cNvPr id="20" name="Text 17"/>
          <p:cNvSpPr txBox="1"/>
          <p:nvPr/>
        </p:nvSpPr>
        <p:spPr>
          <a:xfrm>
            <a:off x="6126480" y="4526280"/>
            <a:ext cx="1188720" cy="914400"/>
          </a:xfrm>
          <a:prstGeom prst="rect">
            <a:avLst/>
          </a:prstGeom>
          <a:noFill/>
          <a:ln/>
        </p:spPr>
        <p:txBody>
          <a:bodyPr wrap="square" lIns="508" tIns="508" rIns="508" bIns="508" rtlCol="0" anchor="ctr"/>
          <a:lstStyle/>
          <a:p>
            <a:pPr marL="0" indent="0" algn="ctr">
              <a:buNone/>
            </a:pPr>
            <a:r>
              <a:rPr lang="en-US" sz="1400" b="1" dirty="0">
                <a:solidFill>
                  <a:schemeClr val="tx2"/>
                </a:solidFill>
              </a:rPr>
              <a:t>Standard</a:t>
            </a:r>
            <a:endParaRPr lang="en-US" sz="1400" dirty="0"/>
          </a:p>
          <a:p>
            <a:pPr marL="0" indent="0" algn="ctr">
              <a:buNone/>
            </a:pPr>
            <a:r>
              <a:rPr lang="en-US" sz="1100" dirty="0">
                <a:solidFill>
                  <a:schemeClr val="accent5"/>
                </a:solidFill>
              </a:rPr>
              <a:t>75%</a:t>
            </a:r>
            <a:endParaRPr lang="en-US" sz="1400" dirty="0"/>
          </a:p>
        </p:txBody>
      </p:sp>
      <p:sp>
        <p:nvSpPr>
          <p:cNvPr id="21" name="Class Strict"/>
          <p:cNvSpPr/>
          <p:nvPr/>
        </p:nvSpPr>
        <p:spPr>
          <a:xfrm>
            <a:off x="7406640" y="4526280"/>
            <a:ext cx="1188720" cy="914400"/>
          </a:xfrm>
          <a:prstGeom prst="rect">
            <a:avLst/>
          </a:prstGeom>
          <a:solidFill>
            <a:schemeClr val="bg2"/>
          </a:solidFill>
          <a:ln w="15875">
            <a:solidFill>
              <a:schemeClr val="accent1"/>
            </a:solidFill>
            <a:prstDash val="solid"/>
          </a:ln>
        </p:spPr>
      </p:sp>
      <p:sp>
        <p:nvSpPr>
          <p:cNvPr id="22" name="Text 19"/>
          <p:cNvSpPr txBox="1"/>
          <p:nvPr/>
        </p:nvSpPr>
        <p:spPr>
          <a:xfrm>
            <a:off x="7406640" y="4526280"/>
            <a:ext cx="1188720" cy="914400"/>
          </a:xfrm>
          <a:prstGeom prst="rect">
            <a:avLst/>
          </a:prstGeom>
          <a:noFill/>
          <a:ln/>
        </p:spPr>
        <p:txBody>
          <a:bodyPr wrap="square" lIns="508" tIns="508" rIns="508" bIns="508" rtlCol="0" anchor="ctr"/>
          <a:lstStyle/>
          <a:p>
            <a:pPr marL="0" indent="0" algn="ctr">
              <a:buNone/>
            </a:pPr>
            <a:r>
              <a:rPr lang="en-US" sz="1400" b="1" dirty="0">
                <a:solidFill>
                  <a:schemeClr val="tx2"/>
                </a:solidFill>
              </a:rPr>
              <a:t>Strict</a:t>
            </a:r>
            <a:endParaRPr lang="en-US" sz="1400" dirty="0"/>
          </a:p>
          <a:p>
            <a:pPr marL="0" indent="0" algn="ctr">
              <a:buNone/>
            </a:pPr>
            <a:r>
              <a:rPr lang="en-US" sz="1100" dirty="0">
                <a:solidFill>
                  <a:schemeClr val="accent5"/>
                </a:solidFill>
              </a:rPr>
              <a:t>85%</a:t>
            </a:r>
            <a:endParaRPr lang="en-US" sz="1400" dirty="0"/>
          </a:p>
        </p:txBody>
      </p:sp>
      <p:sp>
        <p:nvSpPr>
          <p:cNvPr id="23" name="Shape 20"/>
          <p:cNvSpPr/>
          <p:nvPr/>
        </p:nvSpPr>
        <p:spPr>
          <a:xfrm>
            <a:off x="1600200" y="2423160"/>
            <a:ext cx="0" cy="594360"/>
          </a:xfrm>
          <a:prstGeom prst="line">
            <a:avLst/>
          </a:prstGeom>
          <a:noFill/>
          <a:ln w="19050">
            <a:solidFill>
              <a:schemeClr val="accent5"/>
            </a:solidFill>
            <a:prstDash val="solid"/>
            <a:tailEnd type="triangle"/>
          </a:ln>
        </p:spPr>
      </p:sp>
      <p:sp>
        <p:nvSpPr>
          <p:cNvPr id="24" name="Shape 21"/>
          <p:cNvSpPr/>
          <p:nvPr/>
        </p:nvSpPr>
        <p:spPr>
          <a:xfrm>
            <a:off x="1600200" y="3931920"/>
            <a:ext cx="0" cy="594360"/>
          </a:xfrm>
          <a:prstGeom prst="line">
            <a:avLst/>
          </a:prstGeom>
          <a:noFill/>
          <a:ln w="19050">
            <a:solidFill>
              <a:schemeClr val="accent5"/>
            </a:solidFill>
            <a:prstDash val="solid"/>
            <a:tailEnd type="triangle"/>
          </a:ln>
        </p:spPr>
      </p:sp>
      <p:sp>
        <p:nvSpPr>
          <p:cNvPr id="25" name="Shape 22"/>
          <p:cNvSpPr/>
          <p:nvPr/>
        </p:nvSpPr>
        <p:spPr>
          <a:xfrm>
            <a:off x="3383280" y="3474720"/>
            <a:ext cx="0" cy="0"/>
          </a:xfrm>
          <a:prstGeom prst="line">
            <a:avLst/>
          </a:prstGeom>
          <a:noFill/>
          <a:ln w="19050">
            <a:solidFill>
              <a:schemeClr val="accent5"/>
            </a:solidFill>
            <a:prstDash val="solid"/>
            <a:tailEnd type="triangle"/>
          </a:ln>
        </p:spPr>
      </p:sp>
      <p:sp>
        <p:nvSpPr>
          <p:cNvPr id="26" name="Shape 23"/>
          <p:cNvSpPr/>
          <p:nvPr/>
        </p:nvSpPr>
        <p:spPr>
          <a:xfrm>
            <a:off x="4526280" y="2423160"/>
            <a:ext cx="0" cy="594360"/>
          </a:xfrm>
          <a:prstGeom prst="line">
            <a:avLst/>
          </a:prstGeom>
          <a:noFill/>
          <a:ln w="19050">
            <a:solidFill>
              <a:schemeClr val="accent5"/>
            </a:solidFill>
            <a:prstDash val="solid"/>
            <a:tailEnd type="triangle"/>
          </a:ln>
        </p:spPr>
      </p:sp>
      <p:sp>
        <p:nvSpPr>
          <p:cNvPr id="27" name="Shape 24"/>
          <p:cNvSpPr/>
          <p:nvPr/>
        </p:nvSpPr>
        <p:spPr>
          <a:xfrm>
            <a:off x="4526280" y="3931920"/>
            <a:ext cx="0" cy="594360"/>
          </a:xfrm>
          <a:prstGeom prst="line">
            <a:avLst/>
          </a:prstGeom>
          <a:noFill/>
          <a:ln w="19050">
            <a:solidFill>
              <a:schemeClr val="accent5"/>
            </a:solidFill>
            <a:prstDash val="solid"/>
            <a:tailEnd type="triangle"/>
          </a:ln>
        </p:spPr>
      </p:sp>
      <p:sp>
        <p:nvSpPr>
          <p:cNvPr id="28" name="Shape 25"/>
          <p:cNvSpPr/>
          <p:nvPr/>
        </p:nvSpPr>
        <p:spPr>
          <a:xfrm>
            <a:off x="5669280" y="3474720"/>
            <a:ext cx="457200" cy="0"/>
          </a:xfrm>
          <a:prstGeom prst="line">
            <a:avLst/>
          </a:prstGeom>
          <a:noFill/>
          <a:ln w="19050">
            <a:solidFill>
              <a:schemeClr val="accent5"/>
            </a:solidFill>
            <a:prstDash val="solid"/>
            <a:tailEnd type="triangle"/>
          </a:ln>
        </p:spPr>
      </p:sp>
      <p:sp>
        <p:nvSpPr>
          <p:cNvPr id="29" name="Shape 26"/>
          <p:cNvSpPr/>
          <p:nvPr/>
        </p:nvSpPr>
        <p:spPr>
          <a:xfrm>
            <a:off x="6720840" y="3931920"/>
            <a:ext cx="0" cy="594360"/>
          </a:xfrm>
          <a:prstGeom prst="line">
            <a:avLst/>
          </a:prstGeom>
          <a:noFill/>
          <a:ln w="19050">
            <a:solidFill>
              <a:schemeClr val="accent5"/>
            </a:solidFill>
            <a:prstDash val="solid"/>
            <a:tailEnd type="triangle"/>
          </a:ln>
        </p:spPr>
      </p:sp>
      <p:sp>
        <p:nvSpPr>
          <p:cNvPr id="30" name="Shape 27"/>
          <p:cNvSpPr/>
          <p:nvPr/>
        </p:nvSpPr>
        <p:spPr>
          <a:xfrm>
            <a:off x="8001000" y="3931920"/>
            <a:ext cx="0" cy="594360"/>
          </a:xfrm>
          <a:prstGeom prst="line">
            <a:avLst/>
          </a:prstGeom>
          <a:noFill/>
          <a:ln w="19050">
            <a:solidFill>
              <a:schemeClr val="accent5"/>
            </a:solidFill>
            <a:prstDash val="solid"/>
            <a:tailEnd type="triangle"/>
          </a:ln>
        </p:spPr>
      </p:sp>
      <p:sp>
        <p:nvSpPr>
          <p:cNvPr id="31" name="Text 28"/>
          <p:cNvSpPr txBox="1"/>
          <p:nvPr/>
        </p:nvSpPr>
        <p:spPr>
          <a:xfrm>
            <a:off x="6126480" y="5486400"/>
            <a:ext cx="2743200" cy="457200"/>
          </a:xfrm>
          <a:prstGeom prst="rect">
            <a:avLst/>
          </a:prstGeom>
          <a:noFill/>
          <a:ln/>
        </p:spPr>
        <p:txBody>
          <a:bodyPr wrap="square" lIns="0" tIns="0" rIns="0" bIns="0" rtlCol="0" anchor="ctr"/>
          <a:lstStyle/>
          <a:p>
            <a:pPr marL="0" indent="0">
              <a:buNone/>
            </a:pPr>
            <a:r>
              <a:rPr lang="en-US" sz="1100" dirty="0">
                <a:solidFill>
                  <a:schemeClr val="accent5"/>
                </a:solidFill>
              </a:rPr>
              <a:t>Standard and Strict implement the interface</a:t>
            </a:r>
            <a:endParaRPr lang="en-US" sz="1100" dirty="0"/>
          </a:p>
        </p:txBody>
      </p:sp>
      <p:sp>
        <p:nvSpPr>
          <p:cNvPr id="32" name="Text 29"/>
          <p:cNvSpPr txBox="1"/>
          <p:nvPr/>
        </p:nvSpPr>
        <p:spPr>
          <a:xfrm>
            <a:off x="9144000" y="1508760"/>
            <a:ext cx="2514600" cy="1097280"/>
          </a:xfrm>
          <a:prstGeom prst="rect">
            <a:avLst/>
          </a:prstGeom>
          <a:noFill/>
          <a:ln/>
        </p:spPr>
        <p:txBody>
          <a:bodyPr wrap="square" lIns="0" tIns="0" rIns="0" bIns="0" rtlCol="0" anchor="t"/>
          <a:lstStyle/>
          <a:p>
            <a:pPr marL="0" indent="0">
              <a:buNone/>
            </a:pPr>
            <a:r>
              <a:rPr lang="en-US" sz="1600" b="1" dirty="0">
                <a:solidFill>
                  <a:schemeClr val="accent1"/>
                </a:solidFill>
              </a:rPr>
              <a:t>Abstraction</a:t>
            </a:r>
            <a:endParaRPr lang="en-US" sz="1600" dirty="0"/>
          </a:p>
          <a:p>
            <a:pPr marL="0" indent="0">
              <a:buNone/>
            </a:pPr>
            <a:r>
              <a:rPr lang="en-US" sz="1400" dirty="0">
                <a:solidFill>
                  <a:schemeClr val="tx1"/>
                </a:solidFill>
              </a:rPr>
              <a:t>Person is abstract; AttendancePolicy is an interface.</a:t>
            </a:r>
            <a:endParaRPr lang="en-US" sz="1600" dirty="0"/>
          </a:p>
        </p:txBody>
      </p:sp>
      <p:sp>
        <p:nvSpPr>
          <p:cNvPr id="33" name="Text 30"/>
          <p:cNvSpPr txBox="1"/>
          <p:nvPr/>
        </p:nvSpPr>
        <p:spPr>
          <a:xfrm>
            <a:off x="9144000" y="2697480"/>
            <a:ext cx="2514600" cy="1097280"/>
          </a:xfrm>
          <a:prstGeom prst="rect">
            <a:avLst/>
          </a:prstGeom>
          <a:noFill/>
          <a:ln/>
        </p:spPr>
        <p:txBody>
          <a:bodyPr wrap="square" lIns="0" tIns="0" rIns="0" bIns="0" rtlCol="0" anchor="t"/>
          <a:lstStyle/>
          <a:p>
            <a:pPr marL="0" indent="0">
              <a:buNone/>
            </a:pPr>
            <a:r>
              <a:rPr lang="en-US" sz="1600" b="1" dirty="0">
                <a:solidFill>
                  <a:schemeClr val="accent1"/>
                </a:solidFill>
              </a:rPr>
              <a:t>Inheritance</a:t>
            </a:r>
            <a:endParaRPr lang="en-US" sz="1600" dirty="0"/>
          </a:p>
          <a:p>
            <a:pPr marL="0" indent="0">
              <a:buNone/>
            </a:pPr>
            <a:r>
              <a:rPr lang="en-US" sz="1400" dirty="0">
                <a:solidFill>
                  <a:schemeClr val="tx1"/>
                </a:solidFill>
              </a:rPr>
              <a:t>Student extends Person and reuses id and name.</a:t>
            </a:r>
            <a:endParaRPr lang="en-US" sz="1600" dirty="0"/>
          </a:p>
        </p:txBody>
      </p:sp>
      <p:sp>
        <p:nvSpPr>
          <p:cNvPr id="34" name="Text 31"/>
          <p:cNvSpPr txBox="1"/>
          <p:nvPr/>
        </p:nvSpPr>
        <p:spPr>
          <a:xfrm>
            <a:off x="9144000" y="3886200"/>
            <a:ext cx="2514600" cy="1097280"/>
          </a:xfrm>
          <a:prstGeom prst="rect">
            <a:avLst/>
          </a:prstGeom>
          <a:noFill/>
          <a:ln/>
        </p:spPr>
        <p:txBody>
          <a:bodyPr wrap="square" lIns="0" tIns="0" rIns="0" bIns="0" rtlCol="0" anchor="t"/>
          <a:lstStyle/>
          <a:p>
            <a:pPr marL="0" indent="0">
              <a:buNone/>
            </a:pPr>
            <a:r>
              <a:rPr lang="en-US" sz="1600" b="1" dirty="0">
                <a:solidFill>
                  <a:schemeClr val="accent1"/>
                </a:solidFill>
              </a:rPr>
              <a:t>Polymorphism</a:t>
            </a:r>
            <a:endParaRPr lang="en-US" sz="1600" dirty="0"/>
          </a:p>
          <a:p>
            <a:pPr marL="0" indent="0">
              <a:buNone/>
            </a:pPr>
            <a:r>
              <a:rPr lang="en-US" sz="1400" dirty="0">
                <a:solidFill>
                  <a:schemeClr val="tx1"/>
                </a:solidFill>
              </a:rPr>
              <a:t>Policies are swapped at runtime; Strict overrides getWarningMargin().</a:t>
            </a:r>
            <a:endParaRPr lang="en-US" sz="1600" dirty="0"/>
          </a:p>
        </p:txBody>
      </p:sp>
      <p:sp>
        <p:nvSpPr>
          <p:cNvPr id="35" name="Text 32"/>
          <p:cNvSpPr txBox="1"/>
          <p:nvPr/>
        </p:nvSpPr>
        <p:spPr>
          <a:xfrm>
            <a:off x="9144000" y="5074920"/>
            <a:ext cx="2514600" cy="1097280"/>
          </a:xfrm>
          <a:prstGeom prst="rect">
            <a:avLst/>
          </a:prstGeom>
          <a:noFill/>
          <a:ln/>
        </p:spPr>
        <p:txBody>
          <a:bodyPr wrap="square" lIns="0" tIns="0" rIns="0" bIns="0" rtlCol="0" anchor="t"/>
          <a:lstStyle/>
          <a:p>
            <a:pPr marL="0" indent="0">
              <a:buNone/>
            </a:pPr>
            <a:r>
              <a:rPr lang="en-US" sz="1600" b="1" dirty="0">
                <a:solidFill>
                  <a:schemeClr val="accent1"/>
                </a:solidFill>
              </a:rPr>
              <a:t>Encapsulation</a:t>
            </a:r>
            <a:endParaRPr lang="en-US" sz="1600" dirty="0"/>
          </a:p>
          <a:p>
            <a:pPr marL="0" indent="0">
              <a:buNone/>
            </a:pPr>
            <a:r>
              <a:rPr lang="en-US" sz="1400" dirty="0">
                <a:solidFill>
                  <a:schemeClr val="tx1"/>
                </a:solidFill>
              </a:rPr>
              <a:t>Private final fields; constructors reject invalid data.</a:t>
            </a:r>
            <a:endParaRPr lang="en-US" sz="1600" dirty="0"/>
          </a:p>
        </p:txBody>
      </p:sp>
      <p:sp>
        <p:nvSpPr>
          <p:cNvPr id="4"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6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65760"/>
            <a:ext cx="5486400" cy="274320"/>
          </a:xfrm>
          <a:prstGeom prst="rect">
            <a:avLst/>
          </a:prstGeom>
          <a:noFill/>
          <a:ln/>
        </p:spPr>
        <p:txBody>
          <a:bodyPr wrap="square" lIns="0" tIns="0" rIns="0" bIns="0" rtlCol="0" anchor="ctr"/>
          <a:lstStyle/>
          <a:p>
            <a:pPr marL="0" indent="0">
              <a:buNone/>
            </a:pPr>
            <a:r>
              <a:rPr lang="en-US" sz="1200" b="1" kern="0" spc="300" dirty="0">
                <a:solidFill>
                  <a:schemeClr val="accent1"/>
                </a:solidFill>
              </a:rPr>
              <a:t>03  •  CORE JAVA</a:t>
            </a:r>
            <a:endParaRPr lang="en-US" sz="1200" dirty="0"/>
          </a:p>
        </p:txBody>
      </p:sp>
      <p:sp>
        <p:nvSpPr>
          <p:cNvPr id="3" name="Text 1"/>
          <p:cNvSpPr>
            <a:spLocks noGrp="1"/>
          </p:cNvSpPr>
          <p:nvPr>
            <p:ph type="title" idx="101" hasCustomPrompt="1"/>
          </p:nvPr>
        </p:nvSpPr>
        <p:spPr>
          <a:xfrm>
            <a:off x="548640" y="685800"/>
            <a:ext cx="11064240" cy="685800"/>
          </a:xfrm>
          <a:prstGeom prst="rect">
            <a:avLst/>
          </a:prstGeom>
          <a:noFill/>
          <a:ln/>
        </p:spPr>
        <p:txBody>
          <a:bodyPr wrap="square" lIns="0" tIns="0" rIns="0" bIns="0" rtlCol="0" anchor="t"/>
          <a:lstStyle/>
          <a:p>
            <a:pPr marL="0" indent="0" algn="l">
              <a:buNone/>
            </a:pPr>
            <a:r>
              <a:rPr lang="en-US" sz="3200" b="1" dirty="0">
                <a:solidFill>
                  <a:schemeClr val="tx2"/>
                </a:solidFill>
              </a:rPr>
              <a:t>Core Java Concepts Used</a:t>
            </a:r>
            <a:endParaRPr lang="en-US" sz="3200" dirty="0"/>
          </a:p>
        </p:txBody>
      </p:sp>
      <p:sp>
        <p:nvSpPr>
          <p:cNvPr id="5" name="Card Classes &amp; constructors"/>
          <p:cNvSpPr/>
          <p:nvPr/>
        </p:nvSpPr>
        <p:spPr>
          <a:xfrm>
            <a:off x="548640" y="1508760"/>
            <a:ext cx="3566160" cy="2103120"/>
          </a:xfrm>
          <a:prstGeom prst="roundRect">
            <a:avLst>
              <a:gd name="adj" fmla="val 3478"/>
            </a:avLst>
          </a:prstGeom>
          <a:solidFill>
            <a:schemeClr val="bg2"/>
          </a:solidFill>
          <a:ln/>
        </p:spPr>
      </p:sp>
      <p:sp>
        <p:nvSpPr>
          <p:cNvPr id="6" name="Marker 1"/>
          <p:cNvSpPr/>
          <p:nvPr/>
        </p:nvSpPr>
        <p:spPr>
          <a:xfrm>
            <a:off x="777240" y="1737360"/>
            <a:ext cx="365760" cy="365760"/>
          </a:xfrm>
          <a:prstGeom prst="ellipse">
            <a:avLst/>
          </a:prstGeom>
          <a:solidFill>
            <a:schemeClr val="accent1"/>
          </a:solidFill>
          <a:ln/>
        </p:spPr>
      </p:sp>
      <p:sp>
        <p:nvSpPr>
          <p:cNvPr id="7" name="Text 4"/>
          <p:cNvSpPr txBox="1"/>
          <p:nvPr/>
        </p:nvSpPr>
        <p:spPr>
          <a:xfrm>
            <a:off x="777240" y="1737360"/>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8" name="Text 5"/>
          <p:cNvSpPr txBox="1"/>
          <p:nvPr/>
        </p:nvSpPr>
        <p:spPr>
          <a:xfrm>
            <a:off x="1280160" y="1737360"/>
            <a:ext cx="2651760" cy="365760"/>
          </a:xfrm>
          <a:prstGeom prst="rect">
            <a:avLst/>
          </a:prstGeom>
          <a:noFill/>
          <a:ln/>
        </p:spPr>
        <p:txBody>
          <a:bodyPr wrap="square" lIns="0" tIns="0" rIns="0" bIns="0" rtlCol="0" anchor="ctr"/>
          <a:lstStyle/>
          <a:p>
            <a:pPr marL="0" indent="0">
              <a:buNone/>
            </a:pPr>
            <a:r>
              <a:rPr lang="en-US" sz="1600" b="1" dirty="0">
                <a:solidFill>
                  <a:schemeClr val="tx2"/>
                </a:solidFill>
              </a:rPr>
              <a:t>Classes &amp; constructors</a:t>
            </a:r>
            <a:endParaRPr lang="en-US" sz="1600" dirty="0"/>
          </a:p>
        </p:txBody>
      </p:sp>
      <p:sp>
        <p:nvSpPr>
          <p:cNvPr id="9" name="Text 6"/>
          <p:cNvSpPr txBox="1"/>
          <p:nvPr/>
        </p:nvSpPr>
        <p:spPr>
          <a:xfrm>
            <a:off x="777240" y="2286000"/>
            <a:ext cx="3108960" cy="1188720"/>
          </a:xfrm>
          <a:prstGeom prst="rect">
            <a:avLst/>
          </a:prstGeom>
          <a:noFill/>
          <a:ln/>
        </p:spPr>
        <p:txBody>
          <a:bodyPr wrap="square" lIns="0" tIns="0" rIns="0" bIns="0" rtlCol="0" anchor="t"/>
          <a:lstStyle/>
          <a:p>
            <a:pPr marL="0" indent="0">
              <a:buNone/>
            </a:pPr>
            <a:r>
              <a:rPr lang="en-US" sz="1500" dirty="0">
                <a:solidFill>
                  <a:schemeClr val="tx1"/>
                </a:solidFill>
              </a:rPr>
              <a:t>SubjectAttendance validates in its constructor, so an invalid record can never exist. Private final fields, getters only.</a:t>
            </a:r>
            <a:endParaRPr lang="en-US" sz="1500" dirty="0"/>
          </a:p>
        </p:txBody>
      </p:sp>
      <p:sp>
        <p:nvSpPr>
          <p:cNvPr id="10" name="Card Collections"/>
          <p:cNvSpPr/>
          <p:nvPr/>
        </p:nvSpPr>
        <p:spPr>
          <a:xfrm>
            <a:off x="4297680" y="1508760"/>
            <a:ext cx="3566160" cy="2103120"/>
          </a:xfrm>
          <a:prstGeom prst="roundRect">
            <a:avLst>
              <a:gd name="adj" fmla="val 3478"/>
            </a:avLst>
          </a:prstGeom>
          <a:solidFill>
            <a:schemeClr val="bg2"/>
          </a:solidFill>
          <a:ln/>
        </p:spPr>
      </p:sp>
      <p:sp>
        <p:nvSpPr>
          <p:cNvPr id="11" name="Marker 2"/>
          <p:cNvSpPr/>
          <p:nvPr/>
        </p:nvSpPr>
        <p:spPr>
          <a:xfrm>
            <a:off x="4526280" y="1737360"/>
            <a:ext cx="365760" cy="365760"/>
          </a:xfrm>
          <a:prstGeom prst="ellipse">
            <a:avLst/>
          </a:prstGeom>
          <a:solidFill>
            <a:schemeClr val="accent1"/>
          </a:solidFill>
          <a:ln/>
        </p:spPr>
      </p:sp>
      <p:sp>
        <p:nvSpPr>
          <p:cNvPr id="12" name="Text 9"/>
          <p:cNvSpPr txBox="1"/>
          <p:nvPr/>
        </p:nvSpPr>
        <p:spPr>
          <a:xfrm>
            <a:off x="4526280" y="1737360"/>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3" name="Text 10"/>
          <p:cNvSpPr txBox="1"/>
          <p:nvPr/>
        </p:nvSpPr>
        <p:spPr>
          <a:xfrm>
            <a:off x="5029200" y="1737360"/>
            <a:ext cx="2651760" cy="365760"/>
          </a:xfrm>
          <a:prstGeom prst="rect">
            <a:avLst/>
          </a:prstGeom>
          <a:noFill/>
          <a:ln/>
        </p:spPr>
        <p:txBody>
          <a:bodyPr wrap="square" lIns="0" tIns="0" rIns="0" bIns="0" rtlCol="0" anchor="ctr"/>
          <a:lstStyle/>
          <a:p>
            <a:pPr marL="0" indent="0">
              <a:buNone/>
            </a:pPr>
            <a:r>
              <a:rPr lang="en-US" sz="1600" b="1" dirty="0">
                <a:solidFill>
                  <a:schemeClr val="tx2"/>
                </a:solidFill>
              </a:rPr>
              <a:t>Collections</a:t>
            </a:r>
            <a:endParaRPr lang="en-US" sz="1600" dirty="0"/>
          </a:p>
        </p:txBody>
      </p:sp>
      <p:sp>
        <p:nvSpPr>
          <p:cNvPr id="14" name="Text 11"/>
          <p:cNvSpPr txBox="1"/>
          <p:nvPr/>
        </p:nvSpPr>
        <p:spPr>
          <a:xfrm>
            <a:off x="4526280" y="2286000"/>
            <a:ext cx="3108960" cy="1188720"/>
          </a:xfrm>
          <a:prstGeom prst="rect">
            <a:avLst/>
          </a:prstGeom>
          <a:noFill/>
          <a:ln/>
        </p:spPr>
        <p:txBody>
          <a:bodyPr wrap="square" lIns="0" tIns="0" rIns="0" bIns="0" rtlCol="0" anchor="t"/>
          <a:lstStyle/>
          <a:p>
            <a:pPr marL="0" indent="0">
              <a:buNone/>
            </a:pPr>
            <a:r>
              <a:rPr lang="en-US" sz="1500" dirty="0">
                <a:solidFill>
                  <a:schemeClr val="tx1"/>
                </a:solidFill>
              </a:rPr>
              <a:t>HashMap for student lookup, LinkedHashMap for subject order, TreeMap to group by subject, ArrayList sorted with Comparator.</a:t>
            </a:r>
            <a:endParaRPr lang="en-US" sz="1500" dirty="0"/>
          </a:p>
        </p:txBody>
      </p:sp>
      <p:sp>
        <p:nvSpPr>
          <p:cNvPr id="15" name="Card Exception handling"/>
          <p:cNvSpPr/>
          <p:nvPr/>
        </p:nvSpPr>
        <p:spPr>
          <a:xfrm>
            <a:off x="8046720" y="1508760"/>
            <a:ext cx="3566160" cy="2103120"/>
          </a:xfrm>
          <a:prstGeom prst="roundRect">
            <a:avLst>
              <a:gd name="adj" fmla="val 3478"/>
            </a:avLst>
          </a:prstGeom>
          <a:solidFill>
            <a:schemeClr val="bg2"/>
          </a:solidFill>
          <a:ln/>
        </p:spPr>
      </p:sp>
      <p:sp>
        <p:nvSpPr>
          <p:cNvPr id="16" name="Marker 3"/>
          <p:cNvSpPr/>
          <p:nvPr/>
        </p:nvSpPr>
        <p:spPr>
          <a:xfrm>
            <a:off x="8275320" y="1737360"/>
            <a:ext cx="365760" cy="365760"/>
          </a:xfrm>
          <a:prstGeom prst="ellipse">
            <a:avLst/>
          </a:prstGeom>
          <a:solidFill>
            <a:schemeClr val="accent1"/>
          </a:solidFill>
          <a:ln/>
        </p:spPr>
      </p:sp>
      <p:sp>
        <p:nvSpPr>
          <p:cNvPr id="17" name="Text 14"/>
          <p:cNvSpPr txBox="1"/>
          <p:nvPr/>
        </p:nvSpPr>
        <p:spPr>
          <a:xfrm>
            <a:off x="8275320" y="1737360"/>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8" name="Text 15"/>
          <p:cNvSpPr txBox="1"/>
          <p:nvPr/>
        </p:nvSpPr>
        <p:spPr>
          <a:xfrm>
            <a:off x="8778240" y="1737360"/>
            <a:ext cx="2651760" cy="365760"/>
          </a:xfrm>
          <a:prstGeom prst="rect">
            <a:avLst/>
          </a:prstGeom>
          <a:noFill/>
          <a:ln/>
        </p:spPr>
        <p:txBody>
          <a:bodyPr wrap="square" lIns="0" tIns="0" rIns="0" bIns="0" rtlCol="0" anchor="ctr"/>
          <a:lstStyle/>
          <a:p>
            <a:pPr marL="0" indent="0">
              <a:buNone/>
            </a:pPr>
            <a:r>
              <a:rPr lang="en-US" sz="1600" b="1" dirty="0">
                <a:solidFill>
                  <a:schemeClr val="tx2"/>
                </a:solidFill>
              </a:rPr>
              <a:t>Exception handling</a:t>
            </a:r>
            <a:endParaRPr lang="en-US" sz="1600" dirty="0"/>
          </a:p>
        </p:txBody>
      </p:sp>
      <p:sp>
        <p:nvSpPr>
          <p:cNvPr id="19" name="Text 16"/>
          <p:cNvSpPr txBox="1"/>
          <p:nvPr/>
        </p:nvSpPr>
        <p:spPr>
          <a:xfrm>
            <a:off x="8275320" y="2286000"/>
            <a:ext cx="3108960" cy="1188720"/>
          </a:xfrm>
          <a:prstGeom prst="rect">
            <a:avLst/>
          </a:prstGeom>
          <a:noFill/>
          <a:ln/>
        </p:spPr>
        <p:txBody>
          <a:bodyPr wrap="square" lIns="0" tIns="0" rIns="0" bIns="0" rtlCol="0" anchor="t"/>
          <a:lstStyle/>
          <a:p>
            <a:pPr marL="0" indent="0">
              <a:buNone/>
            </a:pPr>
            <a:r>
              <a:rPr lang="en-US" sz="1500" dirty="0">
                <a:solidFill>
                  <a:schemeClr val="tx1"/>
                </a:solidFill>
              </a:rPr>
              <a:t>Custom checked exceptions, try-with-resources and exception chaining. A bad CSV row is skipped, not fatal.</a:t>
            </a:r>
            <a:endParaRPr lang="en-US" sz="1500" dirty="0"/>
          </a:p>
        </p:txBody>
      </p:sp>
      <p:sp>
        <p:nvSpPr>
          <p:cNvPr id="20" name="Card File handling"/>
          <p:cNvSpPr/>
          <p:nvPr/>
        </p:nvSpPr>
        <p:spPr>
          <a:xfrm>
            <a:off x="548640" y="3840480"/>
            <a:ext cx="3566160" cy="2103120"/>
          </a:xfrm>
          <a:prstGeom prst="roundRect">
            <a:avLst>
              <a:gd name="adj" fmla="val 3478"/>
            </a:avLst>
          </a:prstGeom>
          <a:solidFill>
            <a:schemeClr val="bg2"/>
          </a:solidFill>
          <a:ln/>
        </p:spPr>
      </p:sp>
      <p:sp>
        <p:nvSpPr>
          <p:cNvPr id="21" name="Marker 4"/>
          <p:cNvSpPr/>
          <p:nvPr/>
        </p:nvSpPr>
        <p:spPr>
          <a:xfrm>
            <a:off x="777240" y="4069080"/>
            <a:ext cx="365760" cy="365760"/>
          </a:xfrm>
          <a:prstGeom prst="ellipse">
            <a:avLst/>
          </a:prstGeom>
          <a:solidFill>
            <a:schemeClr val="accent1"/>
          </a:solidFill>
          <a:ln/>
        </p:spPr>
      </p:sp>
      <p:sp>
        <p:nvSpPr>
          <p:cNvPr id="22" name="Text 19"/>
          <p:cNvSpPr txBox="1"/>
          <p:nvPr/>
        </p:nvSpPr>
        <p:spPr>
          <a:xfrm>
            <a:off x="777240" y="4069080"/>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23" name="Text 20"/>
          <p:cNvSpPr txBox="1"/>
          <p:nvPr/>
        </p:nvSpPr>
        <p:spPr>
          <a:xfrm>
            <a:off x="1280160" y="4069080"/>
            <a:ext cx="2651760" cy="365760"/>
          </a:xfrm>
          <a:prstGeom prst="rect">
            <a:avLst/>
          </a:prstGeom>
          <a:noFill/>
          <a:ln/>
        </p:spPr>
        <p:txBody>
          <a:bodyPr wrap="square" lIns="0" tIns="0" rIns="0" bIns="0" rtlCol="0" anchor="ctr"/>
          <a:lstStyle/>
          <a:p>
            <a:pPr marL="0" indent="0">
              <a:buNone/>
            </a:pPr>
            <a:r>
              <a:rPr lang="en-US" sz="1600" b="1" dirty="0">
                <a:solidFill>
                  <a:schemeClr val="tx2"/>
                </a:solidFill>
              </a:rPr>
              <a:t>File handling</a:t>
            </a:r>
            <a:endParaRPr lang="en-US" sz="1600" dirty="0"/>
          </a:p>
        </p:txBody>
      </p:sp>
      <p:sp>
        <p:nvSpPr>
          <p:cNvPr id="24" name="Text 21"/>
          <p:cNvSpPr txBox="1"/>
          <p:nvPr/>
        </p:nvSpPr>
        <p:spPr>
          <a:xfrm>
            <a:off x="777240" y="4617720"/>
            <a:ext cx="3108960" cy="1188720"/>
          </a:xfrm>
          <a:prstGeom prst="rect">
            <a:avLst/>
          </a:prstGeom>
          <a:noFill/>
          <a:ln/>
        </p:spPr>
        <p:txBody>
          <a:bodyPr wrap="square" lIns="0" tIns="0" rIns="0" bIns="0" rtlCol="0" anchor="t"/>
          <a:lstStyle/>
          <a:p>
            <a:pPr marL="0" indent="0">
              <a:buNone/>
            </a:pPr>
            <a:r>
              <a:rPr lang="en-US" sz="1500" dirty="0">
                <a:solidFill>
                  <a:schemeClr val="tx1"/>
                </a:solidFill>
              </a:rPr>
              <a:t>CsvImporter reads with BufferedReader; ReportWriter saves the report using java.nio.file.</a:t>
            </a:r>
            <a:endParaRPr lang="en-US" sz="1500" dirty="0"/>
          </a:p>
        </p:txBody>
      </p:sp>
      <p:sp>
        <p:nvSpPr>
          <p:cNvPr id="25" name="Card Interface, enum, overriding"/>
          <p:cNvSpPr/>
          <p:nvPr/>
        </p:nvSpPr>
        <p:spPr>
          <a:xfrm>
            <a:off x="4297680" y="3840480"/>
            <a:ext cx="3566160" cy="2103120"/>
          </a:xfrm>
          <a:prstGeom prst="roundRect">
            <a:avLst>
              <a:gd name="adj" fmla="val 3478"/>
            </a:avLst>
          </a:prstGeom>
          <a:solidFill>
            <a:schemeClr val="bg2"/>
          </a:solidFill>
          <a:ln/>
        </p:spPr>
      </p:sp>
      <p:sp>
        <p:nvSpPr>
          <p:cNvPr id="26" name="Marker 5"/>
          <p:cNvSpPr/>
          <p:nvPr/>
        </p:nvSpPr>
        <p:spPr>
          <a:xfrm>
            <a:off x="4526280" y="4069080"/>
            <a:ext cx="365760" cy="365760"/>
          </a:xfrm>
          <a:prstGeom prst="ellipse">
            <a:avLst/>
          </a:prstGeom>
          <a:solidFill>
            <a:schemeClr val="accent1"/>
          </a:solidFill>
          <a:ln/>
        </p:spPr>
      </p:sp>
      <p:sp>
        <p:nvSpPr>
          <p:cNvPr id="27" name="Text 24"/>
          <p:cNvSpPr txBox="1"/>
          <p:nvPr/>
        </p:nvSpPr>
        <p:spPr>
          <a:xfrm>
            <a:off x="4526280" y="4069080"/>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28" name="Text 25"/>
          <p:cNvSpPr txBox="1"/>
          <p:nvPr/>
        </p:nvSpPr>
        <p:spPr>
          <a:xfrm>
            <a:off x="5029200" y="4069080"/>
            <a:ext cx="2651760" cy="365760"/>
          </a:xfrm>
          <a:prstGeom prst="rect">
            <a:avLst/>
          </a:prstGeom>
          <a:noFill/>
          <a:ln/>
        </p:spPr>
        <p:txBody>
          <a:bodyPr wrap="square" lIns="0" tIns="0" rIns="0" bIns="0" rtlCol="0" anchor="ctr"/>
          <a:lstStyle/>
          <a:p>
            <a:pPr marL="0" indent="0">
              <a:buNone/>
            </a:pPr>
            <a:r>
              <a:rPr lang="en-US" sz="1600" b="1" dirty="0">
                <a:solidFill>
                  <a:schemeClr val="tx2"/>
                </a:solidFill>
              </a:rPr>
              <a:t>Interface, enum, overriding</a:t>
            </a:r>
            <a:endParaRPr lang="en-US" sz="1600" dirty="0"/>
          </a:p>
        </p:txBody>
      </p:sp>
      <p:sp>
        <p:nvSpPr>
          <p:cNvPr id="29" name="Text 26"/>
          <p:cNvSpPr txBox="1"/>
          <p:nvPr/>
        </p:nvSpPr>
        <p:spPr>
          <a:xfrm>
            <a:off x="4526280" y="4617720"/>
            <a:ext cx="3108960" cy="1188720"/>
          </a:xfrm>
          <a:prstGeom prst="rect">
            <a:avLst/>
          </a:prstGeom>
          <a:noFill/>
          <a:ln/>
        </p:spPr>
        <p:txBody>
          <a:bodyPr wrap="square" lIns="0" tIns="0" rIns="0" bIns="0" rtlCol="0" anchor="t"/>
          <a:lstStyle/>
          <a:p>
            <a:pPr marL="0" indent="0">
              <a:buNone/>
            </a:pPr>
            <a:r>
              <a:rPr lang="en-US" sz="1500" dirty="0">
                <a:solidFill>
                  <a:schemeClr val="tx1"/>
                </a:solidFill>
              </a:rPr>
              <a:t>AttendancePolicy with default methods, AttendanceStatus enum, overloaded addSubject() and percentage().</a:t>
            </a:r>
            <a:endParaRPr lang="en-US" sz="1500" dirty="0"/>
          </a:p>
        </p:txBody>
      </p:sp>
      <p:sp>
        <p:nvSpPr>
          <p:cNvPr id="30" name="Card Maths, packages, static"/>
          <p:cNvSpPr/>
          <p:nvPr/>
        </p:nvSpPr>
        <p:spPr>
          <a:xfrm>
            <a:off x="8046720" y="3840480"/>
            <a:ext cx="3566160" cy="2103120"/>
          </a:xfrm>
          <a:prstGeom prst="roundRect">
            <a:avLst>
              <a:gd name="adj" fmla="val 3478"/>
            </a:avLst>
          </a:prstGeom>
          <a:solidFill>
            <a:schemeClr val="bg2"/>
          </a:solidFill>
          <a:ln/>
        </p:spPr>
      </p:sp>
      <p:sp>
        <p:nvSpPr>
          <p:cNvPr id="31" name="Marker 6"/>
          <p:cNvSpPr/>
          <p:nvPr/>
        </p:nvSpPr>
        <p:spPr>
          <a:xfrm>
            <a:off x="8275320" y="4069080"/>
            <a:ext cx="365760" cy="365760"/>
          </a:xfrm>
          <a:prstGeom prst="ellipse">
            <a:avLst/>
          </a:prstGeom>
          <a:solidFill>
            <a:schemeClr val="accent1"/>
          </a:solidFill>
          <a:ln/>
        </p:spPr>
      </p:sp>
      <p:sp>
        <p:nvSpPr>
          <p:cNvPr id="32" name="Text 29"/>
          <p:cNvSpPr txBox="1"/>
          <p:nvPr/>
        </p:nvSpPr>
        <p:spPr>
          <a:xfrm>
            <a:off x="8275320" y="4069080"/>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6</a:t>
            </a:r>
            <a:endParaRPr lang="en-US" sz="1400" dirty="0"/>
          </a:p>
        </p:txBody>
      </p:sp>
      <p:sp>
        <p:nvSpPr>
          <p:cNvPr id="33" name="Text 30"/>
          <p:cNvSpPr txBox="1"/>
          <p:nvPr/>
        </p:nvSpPr>
        <p:spPr>
          <a:xfrm>
            <a:off x="8778240" y="4069080"/>
            <a:ext cx="2651760" cy="365760"/>
          </a:xfrm>
          <a:prstGeom prst="rect">
            <a:avLst/>
          </a:prstGeom>
          <a:noFill/>
          <a:ln/>
        </p:spPr>
        <p:txBody>
          <a:bodyPr wrap="square" lIns="0" tIns="0" rIns="0" bIns="0" rtlCol="0" anchor="ctr"/>
          <a:lstStyle/>
          <a:p>
            <a:pPr marL="0" indent="0">
              <a:buNone/>
            </a:pPr>
            <a:r>
              <a:rPr lang="en-US" sz="1600" b="1" dirty="0">
                <a:solidFill>
                  <a:schemeClr val="tx2"/>
                </a:solidFill>
              </a:rPr>
              <a:t>Maths, packages, static</a:t>
            </a:r>
            <a:endParaRPr lang="en-US" sz="1600" dirty="0"/>
          </a:p>
        </p:txBody>
      </p:sp>
      <p:sp>
        <p:nvSpPr>
          <p:cNvPr id="34" name="Text 31"/>
          <p:cNvSpPr txBox="1"/>
          <p:nvPr/>
        </p:nvSpPr>
        <p:spPr>
          <a:xfrm>
            <a:off x="8275320" y="4617720"/>
            <a:ext cx="3108960" cy="1188720"/>
          </a:xfrm>
          <a:prstGeom prst="rect">
            <a:avLst/>
          </a:prstGeom>
          <a:noFill/>
          <a:ln/>
        </p:spPr>
        <p:txBody>
          <a:bodyPr wrap="square" lIns="0" tIns="0" rIns="0" bIns="0" rtlCol="0" anchor="t"/>
          <a:lstStyle/>
          <a:p>
            <a:pPr marL="0" indent="0">
              <a:buNone/>
            </a:pPr>
            <a:r>
              <a:rPr lang="en-US" sz="1500" dirty="0">
                <a:solidFill>
                  <a:schemeClr val="tx1"/>
                </a:solidFill>
              </a:rPr>
              <a:t>ceil / floor formulas in a static final utility class, six packages, String.format reports, LocalDate.</a:t>
            </a:r>
            <a:endParaRPr lang="en-US" sz="1500" dirty="0"/>
          </a:p>
        </p:txBody>
      </p:sp>
      <p:sp>
        <p:nvSpPr>
          <p:cNvPr id="4"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6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65760"/>
            <a:ext cx="5486400" cy="274320"/>
          </a:xfrm>
          <a:prstGeom prst="rect">
            <a:avLst/>
          </a:prstGeom>
          <a:noFill/>
          <a:ln/>
        </p:spPr>
        <p:txBody>
          <a:bodyPr wrap="square" lIns="0" tIns="0" rIns="0" bIns="0" rtlCol="0" anchor="ctr"/>
          <a:lstStyle/>
          <a:p>
            <a:pPr marL="0" indent="0">
              <a:buNone/>
            </a:pPr>
            <a:r>
              <a:rPr lang="en-US" sz="1200" b="1" kern="0" spc="300" dirty="0">
                <a:solidFill>
                  <a:schemeClr val="accent1"/>
                </a:solidFill>
              </a:rPr>
              <a:t>04  •  PROGRAM DESIGN</a:t>
            </a:r>
            <a:endParaRPr lang="en-US" sz="1200" dirty="0"/>
          </a:p>
        </p:txBody>
      </p:sp>
      <p:sp>
        <p:nvSpPr>
          <p:cNvPr id="3" name="Text 1"/>
          <p:cNvSpPr>
            <a:spLocks noGrp="1"/>
          </p:cNvSpPr>
          <p:nvPr>
            <p:ph type="title" idx="101" hasCustomPrompt="1"/>
          </p:nvPr>
        </p:nvSpPr>
        <p:spPr>
          <a:xfrm>
            <a:off x="548640" y="685800"/>
            <a:ext cx="11064240" cy="685800"/>
          </a:xfrm>
          <a:prstGeom prst="rect">
            <a:avLst/>
          </a:prstGeom>
          <a:noFill/>
          <a:ln/>
        </p:spPr>
        <p:txBody>
          <a:bodyPr wrap="square" lIns="0" tIns="0" rIns="0" bIns="0" rtlCol="0" anchor="t"/>
          <a:lstStyle/>
          <a:p>
            <a:pPr marL="0" indent="0" algn="l">
              <a:buNone/>
            </a:pPr>
            <a:r>
              <a:rPr lang="en-US" sz="3200" b="1" dirty="0">
                <a:solidFill>
                  <a:schemeClr val="tx2"/>
                </a:solidFill>
              </a:rPr>
              <a:t>Program Flow &amp; Implementation</a:t>
            </a:r>
            <a:endParaRPr lang="en-US" sz="3200" dirty="0"/>
          </a:p>
        </p:txBody>
      </p:sp>
      <p:sp>
        <p:nvSpPr>
          <p:cNvPr id="5" name="Step 1"/>
          <p:cNvSpPr/>
          <p:nvPr/>
        </p:nvSpPr>
        <p:spPr>
          <a:xfrm>
            <a:off x="548640" y="1463040"/>
            <a:ext cx="2011680" cy="1005840"/>
          </a:xfrm>
          <a:prstGeom prst="roundRect">
            <a:avLst>
              <a:gd name="adj" fmla="val 7273"/>
            </a:avLst>
          </a:prstGeom>
          <a:solidFill>
            <a:schemeClr val="tx2"/>
          </a:solidFill>
          <a:ln/>
        </p:spPr>
      </p:sp>
      <p:sp>
        <p:nvSpPr>
          <p:cNvPr id="6" name="Text 3"/>
          <p:cNvSpPr txBox="1"/>
          <p:nvPr/>
        </p:nvSpPr>
        <p:spPr>
          <a:xfrm>
            <a:off x="548640" y="1463040"/>
            <a:ext cx="2011680" cy="1005840"/>
          </a:xfrm>
          <a:prstGeom prst="rect">
            <a:avLst/>
          </a:prstGeom>
          <a:noFill/>
          <a:ln/>
        </p:spPr>
        <p:txBody>
          <a:bodyPr wrap="square" lIns="762" tIns="762" rIns="762" bIns="762" rtlCol="0" anchor="ctr"/>
          <a:lstStyle/>
          <a:p>
            <a:pPr marL="0" indent="0" algn="ctr">
              <a:buNone/>
            </a:pPr>
            <a:r>
              <a:rPr lang="en-US" sz="1400" b="1" dirty="0">
                <a:solidFill>
                  <a:schemeClr val="bg1"/>
                </a:solidFill>
              </a:rPr>
              <a:t>CSV file</a:t>
            </a:r>
            <a:endParaRPr lang="en-US" sz="1400" dirty="0"/>
          </a:p>
          <a:p>
            <a:pPr marL="0" indent="0" algn="ctr">
              <a:buNone/>
            </a:pPr>
            <a:r>
              <a:rPr lang="en-US" sz="1100" dirty="0">
                <a:solidFill>
                  <a:schemeClr val="bg2"/>
                </a:solidFill>
              </a:rPr>
              <a:t>studentId, subject, conducted, attended</a:t>
            </a:r>
            <a:endParaRPr lang="en-US" sz="1400" dirty="0"/>
          </a:p>
        </p:txBody>
      </p:sp>
      <p:sp>
        <p:nvSpPr>
          <p:cNvPr id="7" name="Shape 4"/>
          <p:cNvSpPr/>
          <p:nvPr/>
        </p:nvSpPr>
        <p:spPr>
          <a:xfrm>
            <a:off x="2560320" y="1965960"/>
            <a:ext cx="228600" cy="0"/>
          </a:xfrm>
          <a:prstGeom prst="line">
            <a:avLst/>
          </a:prstGeom>
          <a:noFill/>
          <a:ln w="25400">
            <a:solidFill>
              <a:schemeClr val="accent5"/>
            </a:solidFill>
            <a:prstDash val="solid"/>
            <a:tailEnd type="triangle"/>
          </a:ln>
        </p:spPr>
      </p:sp>
      <p:sp>
        <p:nvSpPr>
          <p:cNvPr id="8" name="Step 2"/>
          <p:cNvSpPr/>
          <p:nvPr/>
        </p:nvSpPr>
        <p:spPr>
          <a:xfrm>
            <a:off x="2788920" y="1463040"/>
            <a:ext cx="2011680" cy="1005840"/>
          </a:xfrm>
          <a:prstGeom prst="roundRect">
            <a:avLst>
              <a:gd name="adj" fmla="val 7273"/>
            </a:avLst>
          </a:prstGeom>
          <a:solidFill>
            <a:schemeClr val="accent1"/>
          </a:solidFill>
          <a:ln/>
        </p:spPr>
      </p:sp>
      <p:sp>
        <p:nvSpPr>
          <p:cNvPr id="9" name="Text 6"/>
          <p:cNvSpPr txBox="1"/>
          <p:nvPr/>
        </p:nvSpPr>
        <p:spPr>
          <a:xfrm>
            <a:off x="2788920" y="1463040"/>
            <a:ext cx="2011680" cy="1005840"/>
          </a:xfrm>
          <a:prstGeom prst="rect">
            <a:avLst/>
          </a:prstGeom>
          <a:noFill/>
          <a:ln/>
        </p:spPr>
        <p:txBody>
          <a:bodyPr wrap="square" lIns="762" tIns="762" rIns="762" bIns="762" rtlCol="0" anchor="ctr"/>
          <a:lstStyle/>
          <a:p>
            <a:pPr marL="0" indent="0" algn="ctr">
              <a:buNone/>
            </a:pPr>
            <a:r>
              <a:rPr lang="en-US" sz="1400" b="1" dirty="0">
                <a:solidFill>
                  <a:schemeClr val="bg1"/>
                </a:solidFill>
              </a:rPr>
              <a:t>CsvImporter</a:t>
            </a:r>
            <a:endParaRPr lang="en-US" sz="1400" dirty="0"/>
          </a:p>
          <a:p>
            <a:pPr marL="0" indent="0" algn="ctr">
              <a:buNone/>
            </a:pPr>
            <a:r>
              <a:rPr lang="en-US" sz="1100" dirty="0">
                <a:solidFill>
                  <a:schemeClr val="bg2"/>
                </a:solidFill>
              </a:rPr>
              <a:t>parse + validate each line</a:t>
            </a:r>
            <a:endParaRPr lang="en-US" sz="1400" dirty="0"/>
          </a:p>
        </p:txBody>
      </p:sp>
      <p:sp>
        <p:nvSpPr>
          <p:cNvPr id="10" name="Shape 7"/>
          <p:cNvSpPr/>
          <p:nvPr/>
        </p:nvSpPr>
        <p:spPr>
          <a:xfrm>
            <a:off x="4800600" y="1965960"/>
            <a:ext cx="228600" cy="0"/>
          </a:xfrm>
          <a:prstGeom prst="line">
            <a:avLst/>
          </a:prstGeom>
          <a:noFill/>
          <a:ln w="25400">
            <a:solidFill>
              <a:schemeClr val="accent5"/>
            </a:solidFill>
            <a:prstDash val="solid"/>
            <a:tailEnd type="triangle"/>
          </a:ln>
        </p:spPr>
      </p:sp>
      <p:sp>
        <p:nvSpPr>
          <p:cNvPr id="11" name="Step 3"/>
          <p:cNvSpPr/>
          <p:nvPr/>
        </p:nvSpPr>
        <p:spPr>
          <a:xfrm>
            <a:off x="5029200" y="1463040"/>
            <a:ext cx="2011680" cy="1005840"/>
          </a:xfrm>
          <a:prstGeom prst="roundRect">
            <a:avLst>
              <a:gd name="adj" fmla="val 7273"/>
            </a:avLst>
          </a:prstGeom>
          <a:solidFill>
            <a:schemeClr val="accent1"/>
          </a:solidFill>
          <a:ln/>
        </p:spPr>
      </p:sp>
      <p:sp>
        <p:nvSpPr>
          <p:cNvPr id="12" name="Text 9"/>
          <p:cNvSpPr txBox="1"/>
          <p:nvPr/>
        </p:nvSpPr>
        <p:spPr>
          <a:xfrm>
            <a:off x="5029200" y="1463040"/>
            <a:ext cx="2011680" cy="1005840"/>
          </a:xfrm>
          <a:prstGeom prst="rect">
            <a:avLst/>
          </a:prstGeom>
          <a:noFill/>
          <a:ln/>
        </p:spPr>
        <p:txBody>
          <a:bodyPr wrap="square" lIns="762" tIns="762" rIns="762" bIns="762" rtlCol="0" anchor="ctr"/>
          <a:lstStyle/>
          <a:p>
            <a:pPr marL="0" indent="0" algn="ctr">
              <a:buNone/>
            </a:pPr>
            <a:r>
              <a:rPr lang="en-US" sz="1400" b="1" dirty="0">
                <a:solidFill>
                  <a:schemeClr val="bg1"/>
                </a:solidFill>
              </a:rPr>
              <a:t>AttendanceManager</a:t>
            </a:r>
            <a:endParaRPr lang="en-US" sz="1400" dirty="0"/>
          </a:p>
          <a:p>
            <a:pPr marL="0" indent="0" algn="ctr">
              <a:buNone/>
            </a:pPr>
            <a:r>
              <a:rPr lang="en-US" sz="1100" dirty="0">
                <a:solidFill>
                  <a:schemeClr val="bg2"/>
                </a:solidFill>
              </a:rPr>
              <a:t>store students in HashMap</a:t>
            </a:r>
            <a:endParaRPr lang="en-US" sz="1400" dirty="0"/>
          </a:p>
        </p:txBody>
      </p:sp>
      <p:sp>
        <p:nvSpPr>
          <p:cNvPr id="13" name="Shape 10"/>
          <p:cNvSpPr/>
          <p:nvPr/>
        </p:nvSpPr>
        <p:spPr>
          <a:xfrm>
            <a:off x="7040880" y="1965960"/>
            <a:ext cx="228600" cy="0"/>
          </a:xfrm>
          <a:prstGeom prst="line">
            <a:avLst/>
          </a:prstGeom>
          <a:noFill/>
          <a:ln w="25400">
            <a:solidFill>
              <a:schemeClr val="accent5"/>
            </a:solidFill>
            <a:prstDash val="solid"/>
            <a:tailEnd type="triangle"/>
          </a:ln>
        </p:spPr>
      </p:sp>
      <p:sp>
        <p:nvSpPr>
          <p:cNvPr id="14" name="Step 4"/>
          <p:cNvSpPr/>
          <p:nvPr/>
        </p:nvSpPr>
        <p:spPr>
          <a:xfrm>
            <a:off x="7269480" y="1463040"/>
            <a:ext cx="2011680" cy="1005840"/>
          </a:xfrm>
          <a:prstGeom prst="roundRect">
            <a:avLst>
              <a:gd name="adj" fmla="val 7273"/>
            </a:avLst>
          </a:prstGeom>
          <a:solidFill>
            <a:schemeClr val="accent1"/>
          </a:solidFill>
          <a:ln/>
        </p:spPr>
      </p:sp>
      <p:sp>
        <p:nvSpPr>
          <p:cNvPr id="15" name="Text 12"/>
          <p:cNvSpPr txBox="1"/>
          <p:nvPr/>
        </p:nvSpPr>
        <p:spPr>
          <a:xfrm>
            <a:off x="7269480" y="1463040"/>
            <a:ext cx="2011680" cy="1005840"/>
          </a:xfrm>
          <a:prstGeom prst="rect">
            <a:avLst/>
          </a:prstGeom>
          <a:noFill/>
          <a:ln/>
        </p:spPr>
        <p:txBody>
          <a:bodyPr wrap="square" lIns="762" tIns="762" rIns="762" bIns="762" rtlCol="0" anchor="ctr"/>
          <a:lstStyle/>
          <a:p>
            <a:pPr marL="0" indent="0" algn="ctr">
              <a:buNone/>
            </a:pPr>
            <a:r>
              <a:rPr lang="en-US" sz="1400" b="1" dirty="0">
                <a:solidFill>
                  <a:schemeClr val="bg1"/>
                </a:solidFill>
              </a:rPr>
              <a:t>Calculator + Policy</a:t>
            </a:r>
            <a:endParaRPr lang="en-US" sz="1400" dirty="0"/>
          </a:p>
          <a:p>
            <a:pPr marL="0" indent="0" algn="ctr">
              <a:buNone/>
            </a:pPr>
            <a:r>
              <a:rPr lang="en-US" sz="1100" dirty="0">
                <a:solidFill>
                  <a:schemeClr val="bg2"/>
                </a:solidFill>
              </a:rPr>
              <a:t>percentage, status, projection</a:t>
            </a:r>
            <a:endParaRPr lang="en-US" sz="1400" dirty="0"/>
          </a:p>
        </p:txBody>
      </p:sp>
      <p:sp>
        <p:nvSpPr>
          <p:cNvPr id="16" name="Shape 13"/>
          <p:cNvSpPr/>
          <p:nvPr/>
        </p:nvSpPr>
        <p:spPr>
          <a:xfrm>
            <a:off x="9281160" y="1965960"/>
            <a:ext cx="228600" cy="0"/>
          </a:xfrm>
          <a:prstGeom prst="line">
            <a:avLst/>
          </a:prstGeom>
          <a:noFill/>
          <a:ln w="25400">
            <a:solidFill>
              <a:schemeClr val="accent5"/>
            </a:solidFill>
            <a:prstDash val="solid"/>
            <a:tailEnd type="triangle"/>
          </a:ln>
        </p:spPr>
      </p:sp>
      <p:sp>
        <p:nvSpPr>
          <p:cNvPr id="17" name="Step 5"/>
          <p:cNvSpPr/>
          <p:nvPr/>
        </p:nvSpPr>
        <p:spPr>
          <a:xfrm>
            <a:off x="9509760" y="1463040"/>
            <a:ext cx="2011680" cy="1005840"/>
          </a:xfrm>
          <a:prstGeom prst="roundRect">
            <a:avLst>
              <a:gd name="adj" fmla="val 7273"/>
            </a:avLst>
          </a:prstGeom>
          <a:solidFill>
            <a:schemeClr val="tx2"/>
          </a:solidFill>
          <a:ln/>
        </p:spPr>
      </p:sp>
      <p:sp>
        <p:nvSpPr>
          <p:cNvPr id="18" name="Text 15"/>
          <p:cNvSpPr txBox="1"/>
          <p:nvPr/>
        </p:nvSpPr>
        <p:spPr>
          <a:xfrm>
            <a:off x="9509760" y="1463040"/>
            <a:ext cx="2011680" cy="1005840"/>
          </a:xfrm>
          <a:prstGeom prst="rect">
            <a:avLst/>
          </a:prstGeom>
          <a:noFill/>
          <a:ln/>
        </p:spPr>
        <p:txBody>
          <a:bodyPr wrap="square" lIns="762" tIns="762" rIns="762" bIns="762" rtlCol="0" anchor="ctr"/>
          <a:lstStyle/>
          <a:p>
            <a:pPr marL="0" indent="0" algn="ctr">
              <a:buNone/>
            </a:pPr>
            <a:r>
              <a:rPr lang="en-US" sz="1400" b="1" dirty="0">
                <a:solidFill>
                  <a:schemeClr val="bg1"/>
                </a:solidFill>
              </a:rPr>
              <a:t>ReportFormatter</a:t>
            </a:r>
            <a:endParaRPr lang="en-US" sz="1400" dirty="0"/>
          </a:p>
          <a:p>
            <a:pPr marL="0" indent="0" algn="ctr">
              <a:buNone/>
            </a:pPr>
            <a:r>
              <a:rPr lang="en-US" sz="1100" dirty="0">
                <a:solidFill>
                  <a:schemeClr val="bg2"/>
                </a:solidFill>
              </a:rPr>
              <a:t>console + report file</a:t>
            </a:r>
            <a:endParaRPr lang="en-US" sz="1400" dirty="0"/>
          </a:p>
        </p:txBody>
      </p:sp>
      <p:sp>
        <p:nvSpPr>
          <p:cNvPr id="19" name="Text 16"/>
          <p:cNvSpPr txBox="1"/>
          <p:nvPr/>
        </p:nvSpPr>
        <p:spPr>
          <a:xfrm>
            <a:off x="2788920" y="2560320"/>
            <a:ext cx="8778240" cy="320040"/>
          </a:xfrm>
          <a:prstGeom prst="rect">
            <a:avLst/>
          </a:prstGeom>
          <a:noFill/>
          <a:ln/>
        </p:spPr>
        <p:txBody>
          <a:bodyPr wrap="square" lIns="0" tIns="0" rIns="0" bIns="0" rtlCol="0" anchor="ctr"/>
          <a:lstStyle/>
          <a:p>
            <a:pPr marL="0" indent="0">
              <a:buNone/>
            </a:pPr>
            <a:r>
              <a:rPr lang="en-US" sz="1200" dirty="0">
                <a:solidFill>
                  <a:schemeClr val="accent3"/>
                </a:solidFill>
              </a:rPr>
              <a:t>Invalid row (bad count, attended &gt; conducted, duplicate): skipped and reported, import continues</a:t>
            </a:r>
            <a:endParaRPr lang="en-US" sz="1200" dirty="0"/>
          </a:p>
        </p:txBody>
      </p:sp>
      <p:sp>
        <p:nvSpPr>
          <p:cNvPr id="20" name="Code card"/>
          <p:cNvSpPr/>
          <p:nvPr/>
        </p:nvSpPr>
        <p:spPr>
          <a:xfrm>
            <a:off x="548640" y="3200400"/>
            <a:ext cx="6583680" cy="2971800"/>
          </a:xfrm>
          <a:prstGeom prst="roundRect">
            <a:avLst>
              <a:gd name="adj" fmla="val 2462"/>
            </a:avLst>
          </a:prstGeom>
          <a:solidFill>
            <a:schemeClr val="tx2"/>
          </a:solidFill>
          <a:ln/>
        </p:spPr>
      </p:sp>
      <p:sp>
        <p:nvSpPr>
          <p:cNvPr id="21" name="Text 18"/>
          <p:cNvSpPr txBox="1"/>
          <p:nvPr/>
        </p:nvSpPr>
        <p:spPr>
          <a:xfrm>
            <a:off x="822960" y="3383280"/>
            <a:ext cx="6035040" cy="274320"/>
          </a:xfrm>
          <a:prstGeom prst="rect">
            <a:avLst/>
          </a:prstGeom>
          <a:noFill/>
          <a:ln/>
        </p:spPr>
        <p:txBody>
          <a:bodyPr wrap="square" lIns="0" tIns="0" rIns="0" bIns="0" rtlCol="0" anchor="ctr"/>
          <a:lstStyle/>
          <a:p>
            <a:pPr marL="0" indent="0">
              <a:buNone/>
            </a:pPr>
            <a:r>
              <a:rPr lang="en-US" sz="1200" b="1" kern="0" spc="200" dirty="0">
                <a:solidFill>
                  <a:schemeClr val="accent2"/>
                </a:solidFill>
              </a:rPr>
              <a:t>KEY LOGIC: CLASSES NEEDED TO REACH THE THRESHOLD</a:t>
            </a:r>
            <a:endParaRPr lang="en-US" sz="1200" dirty="0"/>
          </a:p>
        </p:txBody>
      </p:sp>
      <p:sp>
        <p:nvSpPr>
          <p:cNvPr id="22" name="Text 19"/>
          <p:cNvSpPr txBox="1"/>
          <p:nvPr/>
        </p:nvSpPr>
        <p:spPr>
          <a:xfrm>
            <a:off x="822960" y="3749040"/>
            <a:ext cx="6126480" cy="1188720"/>
          </a:xfrm>
          <a:prstGeom prst="rect">
            <a:avLst/>
          </a:prstGeom>
          <a:noFill/>
          <a:ln/>
        </p:spPr>
        <p:txBody>
          <a:bodyPr wrap="square" lIns="0" tIns="0" rIns="0" bIns="0" rtlCol="0" anchor="t"/>
          <a:lstStyle/>
          <a:p>
            <a:pPr marL="0" indent="0">
              <a:buNone/>
            </a:pPr>
            <a:r>
              <a:rPr lang="en-US" sz="1600" dirty="0">
                <a:solidFill>
                  <a:schemeClr val="accent6"/>
                </a:solidFill>
                <a:latin typeface="Courier New" pitchFamily="34" charset="0"/>
                <a:ea typeface="Courier New" pitchFamily="34" charset="-122"/>
                <a:cs typeface="Courier New" pitchFamily="34" charset="-120"/>
              </a:rPr>
              <a:t>int classesNeeded(int a, int c, double t) {</a:t>
            </a:r>
            <a:endParaRPr lang="en-US" sz="1600" dirty="0"/>
          </a:p>
          <a:p>
            <a:pPr marL="0" indent="0">
              <a:buNone/>
            </a:pPr>
            <a:r>
              <a:rPr lang="en-US" sz="1600" dirty="0">
                <a:solidFill>
                  <a:schemeClr val="accent6"/>
                </a:solidFill>
                <a:latin typeface="Courier New" pitchFamily="34" charset="0"/>
                <a:ea typeface="Courier New" pitchFamily="34" charset="-122"/>
                <a:cs typeface="Courier New" pitchFamily="34" charset="-120"/>
              </a:rPr>
              <a:t>  double x = (t*c - 100.0*a) / (100.0 - t);</a:t>
            </a:r>
            <a:endParaRPr lang="en-US" sz="1600" dirty="0"/>
          </a:p>
          <a:p>
            <a:pPr marL="0" indent="0">
              <a:buNone/>
            </a:pPr>
            <a:r>
              <a:rPr lang="en-US" sz="1600" dirty="0">
                <a:solidFill>
                  <a:schemeClr val="accent6"/>
                </a:solidFill>
                <a:latin typeface="Courier New" pitchFamily="34" charset="0"/>
                <a:ea typeface="Courier New" pitchFamily="34" charset="-122"/>
                <a:cs typeface="Courier New" pitchFamily="34" charset="-120"/>
              </a:rPr>
              <a:t>  return (int) Math.max(0, Math.ceil(x - EPS));</a:t>
            </a:r>
            <a:endParaRPr lang="en-US" sz="1600" dirty="0"/>
          </a:p>
          <a:p>
            <a:pPr marL="0" indent="0">
              <a:buNone/>
            </a:pPr>
            <a:r>
              <a:rPr lang="en-US" sz="1600" dirty="0">
                <a:solidFill>
                  <a:schemeClr val="accent6"/>
                </a:solidFill>
                <a:latin typeface="Courier New" pitchFamily="34" charset="0"/>
                <a:ea typeface="Courier New" pitchFamily="34" charset="-122"/>
                <a:cs typeface="Courier New" pitchFamily="34" charset="-120"/>
              </a:rPr>
              <a:t>}</a:t>
            </a:r>
            <a:endParaRPr lang="en-US" sz="1600" dirty="0"/>
          </a:p>
        </p:txBody>
      </p:sp>
      <p:sp>
        <p:nvSpPr>
          <p:cNvPr id="23" name="Text 20"/>
          <p:cNvSpPr txBox="1"/>
          <p:nvPr/>
        </p:nvSpPr>
        <p:spPr>
          <a:xfrm>
            <a:off x="822960" y="5074920"/>
            <a:ext cx="6126480" cy="914400"/>
          </a:xfrm>
          <a:prstGeom prst="rect">
            <a:avLst/>
          </a:prstGeom>
          <a:noFill/>
          <a:ln/>
        </p:spPr>
        <p:txBody>
          <a:bodyPr wrap="square" lIns="0" tIns="0" rIns="0" bIns="0" rtlCol="0" anchor="t"/>
          <a:lstStyle/>
          <a:p>
            <a:pPr marL="0" indent="0">
              <a:buNone/>
            </a:pPr>
            <a:r>
              <a:rPr lang="en-US" sz="1400" dirty="0">
                <a:solidFill>
                  <a:schemeClr val="bg1"/>
                </a:solidFill>
              </a:rPr>
              <a:t>Example: 20 of 30 attended, t = 75  -&gt;  x = ceil(250 / 25) = 10  -&gt;  30/40 = 75%.  (a = attended, c = conducted; simplified from AttendanceCalculator)</a:t>
            </a:r>
            <a:endParaRPr lang="en-US" sz="1400" dirty="0"/>
          </a:p>
        </p:txBody>
      </p:sp>
      <p:sp>
        <p:nvSpPr>
          <p:cNvPr id="24" name="Text 21"/>
          <p:cNvSpPr txBox="1"/>
          <p:nvPr/>
        </p:nvSpPr>
        <p:spPr>
          <a:xfrm>
            <a:off x="7498080" y="3200400"/>
            <a:ext cx="4114800" cy="365760"/>
          </a:xfrm>
          <a:prstGeom prst="rect">
            <a:avLst/>
          </a:prstGeom>
          <a:noFill/>
          <a:ln/>
        </p:spPr>
        <p:txBody>
          <a:bodyPr wrap="square" lIns="0" tIns="0" rIns="0" bIns="0" rtlCol="0" anchor="ctr"/>
          <a:lstStyle/>
          <a:p>
            <a:pPr marL="0" indent="0">
              <a:buNone/>
            </a:pPr>
            <a:r>
              <a:rPr lang="en-US" sz="1800" b="1" dirty="0">
                <a:solidFill>
                  <a:schemeClr val="accent1"/>
                </a:solidFill>
              </a:rPr>
              <a:t>Who does what</a:t>
            </a:r>
            <a:endParaRPr lang="en-US" sz="1800" dirty="0"/>
          </a:p>
        </p:txBody>
      </p:sp>
      <p:sp>
        <p:nvSpPr>
          <p:cNvPr id="25" name="Text 22"/>
          <p:cNvSpPr txBox="1"/>
          <p:nvPr/>
        </p:nvSpPr>
        <p:spPr>
          <a:xfrm>
            <a:off x="7498080" y="3657600"/>
            <a:ext cx="4114800" cy="2468880"/>
          </a:xfrm>
          <a:prstGeom prst="rect">
            <a:avLst/>
          </a:prstGeom>
          <a:noFill/>
          <a:ln/>
        </p:spPr>
        <p:txBody>
          <a:bodyPr wrap="square" lIns="0" tIns="0" rIns="0" bIns="0" rtlCol="0" anchor="t"/>
          <a:lstStyle/>
          <a:p>
            <a:pPr marL="0" indent="0">
              <a:spcAft>
                <a:spcPts val="1000"/>
              </a:spcAft>
              <a:buNone/>
            </a:pPr>
            <a:r>
              <a:rPr lang="en-US" sz="1400" b="1" dirty="0">
                <a:solidFill>
                  <a:schemeClr val="tx2"/>
                </a:solidFill>
              </a:rPr>
              <a:t>CsvImporter: </a:t>
            </a:r>
            <a:r>
              <a:rPr lang="en-US" sz="1400" dirty="0">
                <a:solidFill>
                  <a:schemeClr val="tx1"/>
                </a:solidFill>
              </a:rPr>
              <a:t>reads, validates, reports bad lines</a:t>
            </a:r>
            <a:endParaRPr lang="en-US" sz="1400" dirty="0"/>
          </a:p>
          <a:p>
            <a:pPr marL="0" indent="0">
              <a:spcAft>
                <a:spcPts val="1000"/>
              </a:spcAft>
              <a:buNone/>
            </a:pPr>
            <a:r>
              <a:rPr lang="en-US" sz="1400" b="1" dirty="0">
                <a:solidFill>
                  <a:schemeClr val="tx2"/>
                </a:solidFill>
              </a:rPr>
              <a:t>AttendanceManager: </a:t>
            </a:r>
            <a:r>
              <a:rPr lang="en-US" sz="1400" dirty="0">
                <a:solidFill>
                  <a:schemeClr val="tx1"/>
                </a:solidFill>
              </a:rPr>
              <a:t>stores, groups and filters records</a:t>
            </a:r>
            <a:endParaRPr lang="en-US" sz="1400" dirty="0"/>
          </a:p>
          <a:p>
            <a:pPr marL="0" indent="0">
              <a:spcAft>
                <a:spcPts val="1000"/>
              </a:spcAft>
              <a:buNone/>
            </a:pPr>
            <a:r>
              <a:rPr lang="en-US" sz="1400" b="1" dirty="0">
                <a:solidFill>
                  <a:schemeClr val="tx2"/>
                </a:solidFill>
              </a:rPr>
              <a:t>AttendanceCalculator: </a:t>
            </a:r>
            <a:r>
              <a:rPr lang="en-US" sz="1400" dirty="0">
                <a:solidFill>
                  <a:schemeClr val="tx1"/>
                </a:solidFill>
              </a:rPr>
              <a:t>owns every formula</a:t>
            </a:r>
            <a:endParaRPr lang="en-US" sz="1400" dirty="0"/>
          </a:p>
          <a:p>
            <a:pPr marL="0" indent="0">
              <a:spcAft>
                <a:spcPts val="1000"/>
              </a:spcAft>
              <a:buNone/>
            </a:pPr>
            <a:r>
              <a:rPr lang="en-US" sz="1400" b="1" dirty="0">
                <a:solidFill>
                  <a:schemeClr val="tx2"/>
                </a:solidFill>
              </a:rPr>
              <a:t>ReportFormatter: </a:t>
            </a:r>
            <a:r>
              <a:rPr lang="en-US" sz="1400" dirty="0">
                <a:solidFill>
                  <a:schemeClr val="tx1"/>
                </a:solidFill>
              </a:rPr>
              <a:t>one text for screen and file</a:t>
            </a:r>
            <a:endParaRPr lang="en-US" sz="1400" dirty="0"/>
          </a:p>
        </p:txBody>
      </p:sp>
      <p:sp>
        <p:nvSpPr>
          <p:cNvPr id="4"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6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65760"/>
            <a:ext cx="5486400" cy="274320"/>
          </a:xfrm>
          <a:prstGeom prst="rect">
            <a:avLst/>
          </a:prstGeom>
          <a:noFill/>
          <a:ln/>
        </p:spPr>
        <p:txBody>
          <a:bodyPr wrap="square" lIns="0" tIns="0" rIns="0" bIns="0" rtlCol="0" anchor="ctr"/>
          <a:lstStyle/>
          <a:p>
            <a:pPr marL="0" indent="0">
              <a:buNone/>
            </a:pPr>
            <a:r>
              <a:rPr lang="en-US" sz="1200" b="1" kern="0" spc="300" dirty="0">
                <a:solidFill>
                  <a:schemeClr val="accent1"/>
                </a:solidFill>
              </a:rPr>
              <a:t>05  •  DEMO</a:t>
            </a:r>
            <a:endParaRPr lang="en-US" sz="1200" dirty="0"/>
          </a:p>
        </p:txBody>
      </p:sp>
      <p:sp>
        <p:nvSpPr>
          <p:cNvPr id="3" name="Text 1"/>
          <p:cNvSpPr>
            <a:spLocks noGrp="1"/>
          </p:cNvSpPr>
          <p:nvPr>
            <p:ph type="title" idx="101" hasCustomPrompt="1"/>
          </p:nvPr>
        </p:nvSpPr>
        <p:spPr>
          <a:xfrm>
            <a:off x="548640" y="685800"/>
            <a:ext cx="11064240" cy="685800"/>
          </a:xfrm>
          <a:prstGeom prst="rect">
            <a:avLst/>
          </a:prstGeom>
          <a:noFill/>
          <a:ln/>
        </p:spPr>
        <p:txBody>
          <a:bodyPr wrap="square" lIns="0" tIns="0" rIns="0" bIns="0" rtlCol="0" anchor="t"/>
          <a:lstStyle/>
          <a:p>
            <a:pPr marL="0" indent="0" algn="l">
              <a:buNone/>
            </a:pPr>
            <a:r>
              <a:rPr lang="en-US" sz="3200" b="1" dirty="0">
                <a:solidFill>
                  <a:schemeClr val="tx2"/>
                </a:solidFill>
              </a:rPr>
              <a:t>Application Demonstration</a:t>
            </a:r>
            <a:endParaRPr lang="en-US" sz="3200" dirty="0"/>
          </a:p>
        </p:txBody>
      </p:sp>
      <p:sp>
        <p:nvSpPr>
          <p:cNvPr id="5" name="Feature 1"/>
          <p:cNvSpPr/>
          <p:nvPr/>
        </p:nvSpPr>
        <p:spPr>
          <a:xfrm>
            <a:off x="548640" y="1508760"/>
            <a:ext cx="4846320" cy="1051560"/>
          </a:xfrm>
          <a:prstGeom prst="roundRect">
            <a:avLst>
              <a:gd name="adj" fmla="val 6957"/>
            </a:avLst>
          </a:prstGeom>
          <a:solidFill>
            <a:schemeClr val="bg2"/>
          </a:solidFill>
          <a:ln/>
        </p:spPr>
      </p:sp>
      <p:sp>
        <p:nvSpPr>
          <p:cNvPr id="6" name="Feature number 1"/>
          <p:cNvSpPr/>
          <p:nvPr/>
        </p:nvSpPr>
        <p:spPr>
          <a:xfrm>
            <a:off x="731520" y="1783080"/>
            <a:ext cx="457200" cy="457200"/>
          </a:xfrm>
          <a:prstGeom prst="ellipse">
            <a:avLst/>
          </a:prstGeom>
          <a:solidFill>
            <a:schemeClr val="accent1"/>
          </a:solidFill>
          <a:ln/>
        </p:spPr>
      </p:sp>
      <p:sp>
        <p:nvSpPr>
          <p:cNvPr id="7" name="Text 4"/>
          <p:cNvSpPr txBox="1"/>
          <p:nvPr/>
        </p:nvSpPr>
        <p:spPr>
          <a:xfrm>
            <a:off x="731520" y="178308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8" name="Text 5"/>
          <p:cNvSpPr txBox="1"/>
          <p:nvPr/>
        </p:nvSpPr>
        <p:spPr>
          <a:xfrm>
            <a:off x="1371600" y="1508760"/>
            <a:ext cx="3931920" cy="1051560"/>
          </a:xfrm>
          <a:prstGeom prst="rect">
            <a:avLst/>
          </a:prstGeom>
          <a:noFill/>
          <a:ln/>
        </p:spPr>
        <p:txBody>
          <a:bodyPr wrap="square" lIns="0" tIns="0" rIns="0" bIns="0" rtlCol="0" anchor="ctr"/>
          <a:lstStyle/>
          <a:p>
            <a:pPr marL="0" indent="0">
              <a:buNone/>
            </a:pPr>
            <a:r>
              <a:rPr lang="en-US" sz="1600" b="1" dirty="0">
                <a:solidFill>
                  <a:schemeClr val="tx2"/>
                </a:solidFill>
              </a:rPr>
              <a:t>Import and detect</a:t>
            </a:r>
            <a:endParaRPr lang="en-US" sz="1600" dirty="0"/>
          </a:p>
          <a:p>
            <a:pPr marL="0" indent="0">
              <a:buNone/>
            </a:pPr>
            <a:r>
              <a:rPr lang="en-US" sz="1300" dirty="0">
                <a:solidFill>
                  <a:schemeClr val="tx1"/>
                </a:solidFill>
              </a:rPr>
              <a:t>Input: CSV with 40 records. Output: 13 shortage cases, worst first.</a:t>
            </a:r>
            <a:endParaRPr lang="en-US" sz="1600" dirty="0"/>
          </a:p>
        </p:txBody>
      </p:sp>
      <p:sp>
        <p:nvSpPr>
          <p:cNvPr id="9" name="Feature 2"/>
          <p:cNvSpPr/>
          <p:nvPr/>
        </p:nvSpPr>
        <p:spPr>
          <a:xfrm>
            <a:off x="548640" y="2697480"/>
            <a:ext cx="4846320" cy="1051560"/>
          </a:xfrm>
          <a:prstGeom prst="roundRect">
            <a:avLst>
              <a:gd name="adj" fmla="val 6957"/>
            </a:avLst>
          </a:prstGeom>
          <a:solidFill>
            <a:schemeClr val="bg2"/>
          </a:solidFill>
          <a:ln/>
        </p:spPr>
      </p:sp>
      <p:sp>
        <p:nvSpPr>
          <p:cNvPr id="10" name="Feature number 2"/>
          <p:cNvSpPr/>
          <p:nvPr/>
        </p:nvSpPr>
        <p:spPr>
          <a:xfrm>
            <a:off x="731520" y="2971800"/>
            <a:ext cx="457200" cy="457200"/>
          </a:xfrm>
          <a:prstGeom prst="ellipse">
            <a:avLst/>
          </a:prstGeom>
          <a:solidFill>
            <a:schemeClr val="accent1"/>
          </a:solidFill>
          <a:ln/>
        </p:spPr>
      </p:sp>
      <p:sp>
        <p:nvSpPr>
          <p:cNvPr id="11" name="Text 8"/>
          <p:cNvSpPr txBox="1"/>
          <p:nvPr/>
        </p:nvSpPr>
        <p:spPr>
          <a:xfrm>
            <a:off x="731520" y="297180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2" name="Text 9"/>
          <p:cNvSpPr txBox="1"/>
          <p:nvPr/>
        </p:nvSpPr>
        <p:spPr>
          <a:xfrm>
            <a:off x="1371600" y="2697480"/>
            <a:ext cx="3931920" cy="1051560"/>
          </a:xfrm>
          <a:prstGeom prst="rect">
            <a:avLst/>
          </a:prstGeom>
          <a:noFill/>
          <a:ln/>
        </p:spPr>
        <p:txBody>
          <a:bodyPr wrap="square" lIns="0" tIns="0" rIns="0" bIns="0" rtlCol="0" anchor="ctr"/>
          <a:lstStyle/>
          <a:p>
            <a:pPr marL="0" indent="0">
              <a:buNone/>
            </a:pPr>
            <a:r>
              <a:rPr lang="en-US" sz="1600" b="1" dirty="0">
                <a:solidFill>
                  <a:schemeClr val="tx2"/>
                </a:solidFill>
              </a:rPr>
              <a:t>Student report</a:t>
            </a:r>
            <a:endParaRPr lang="en-US" sz="1600" dirty="0"/>
          </a:p>
          <a:p>
            <a:pPr marL="0" indent="0">
              <a:buNone/>
            </a:pPr>
            <a:r>
              <a:rPr lang="en-US" sz="1300" dirty="0">
                <a:solidFill>
                  <a:schemeClr val="tx1"/>
                </a:solidFill>
              </a:rPr>
              <a:t>Input: student ID. Output: % per subject and classes to attend or miss.</a:t>
            </a:r>
            <a:endParaRPr lang="en-US" sz="1600" dirty="0"/>
          </a:p>
        </p:txBody>
      </p:sp>
      <p:sp>
        <p:nvSpPr>
          <p:cNvPr id="13" name="Feature 3"/>
          <p:cNvSpPr/>
          <p:nvPr/>
        </p:nvSpPr>
        <p:spPr>
          <a:xfrm>
            <a:off x="548640" y="3886200"/>
            <a:ext cx="4846320" cy="1051560"/>
          </a:xfrm>
          <a:prstGeom prst="roundRect">
            <a:avLst>
              <a:gd name="adj" fmla="val 6957"/>
            </a:avLst>
          </a:prstGeom>
          <a:solidFill>
            <a:schemeClr val="bg2"/>
          </a:solidFill>
          <a:ln/>
        </p:spPr>
      </p:sp>
      <p:sp>
        <p:nvSpPr>
          <p:cNvPr id="14" name="Feature number 3"/>
          <p:cNvSpPr/>
          <p:nvPr/>
        </p:nvSpPr>
        <p:spPr>
          <a:xfrm>
            <a:off x="731520" y="4160520"/>
            <a:ext cx="457200" cy="457200"/>
          </a:xfrm>
          <a:prstGeom prst="ellipse">
            <a:avLst/>
          </a:prstGeom>
          <a:solidFill>
            <a:schemeClr val="accent1"/>
          </a:solidFill>
          <a:ln/>
        </p:spPr>
      </p:sp>
      <p:sp>
        <p:nvSpPr>
          <p:cNvPr id="15" name="Text 12"/>
          <p:cNvSpPr txBox="1"/>
          <p:nvPr/>
        </p:nvSpPr>
        <p:spPr>
          <a:xfrm>
            <a:off x="731520" y="416052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6" name="Text 13"/>
          <p:cNvSpPr txBox="1"/>
          <p:nvPr/>
        </p:nvSpPr>
        <p:spPr>
          <a:xfrm>
            <a:off x="1371600" y="3886200"/>
            <a:ext cx="3931920" cy="1051560"/>
          </a:xfrm>
          <a:prstGeom prst="rect">
            <a:avLst/>
          </a:prstGeom>
          <a:noFill/>
          <a:ln/>
        </p:spPr>
        <p:txBody>
          <a:bodyPr wrap="square" lIns="0" tIns="0" rIns="0" bIns="0" rtlCol="0" anchor="ctr"/>
          <a:lstStyle/>
          <a:p>
            <a:pPr marL="0" indent="0">
              <a:buNone/>
            </a:pPr>
            <a:r>
              <a:rPr lang="en-US" sz="1600" b="1" dirty="0">
                <a:solidFill>
                  <a:schemeClr val="tx2"/>
                </a:solidFill>
              </a:rPr>
              <a:t>Recovery projection</a:t>
            </a:r>
            <a:endParaRPr lang="en-US" sz="1600" dirty="0"/>
          </a:p>
          <a:p>
            <a:pPr marL="0" indent="0">
              <a:buNone/>
            </a:pPr>
            <a:r>
              <a:rPr lang="en-US" sz="1300" dirty="0">
                <a:solidFill>
                  <a:schemeClr val="tx1"/>
                </a:solidFill>
              </a:rPr>
              <a:t>Input: subject + classes left. Output: achievable or not.</a:t>
            </a:r>
            <a:endParaRPr lang="en-US" sz="1600" dirty="0"/>
          </a:p>
        </p:txBody>
      </p:sp>
      <p:sp>
        <p:nvSpPr>
          <p:cNvPr id="17" name="Object interaction"/>
          <p:cNvSpPr/>
          <p:nvPr/>
        </p:nvSpPr>
        <p:spPr>
          <a:xfrm>
            <a:off x="548640" y="5120640"/>
            <a:ext cx="4846320" cy="1051560"/>
          </a:xfrm>
          <a:prstGeom prst="roundRect">
            <a:avLst>
              <a:gd name="adj" fmla="val 6957"/>
            </a:avLst>
          </a:prstGeom>
          <a:solidFill>
            <a:schemeClr val="accent1"/>
          </a:solidFill>
          <a:ln/>
        </p:spPr>
      </p:sp>
      <p:sp>
        <p:nvSpPr>
          <p:cNvPr id="18" name="Text 15"/>
          <p:cNvSpPr txBox="1"/>
          <p:nvPr/>
        </p:nvSpPr>
        <p:spPr>
          <a:xfrm>
            <a:off x="777240" y="5120640"/>
            <a:ext cx="4434840" cy="1051560"/>
          </a:xfrm>
          <a:prstGeom prst="rect">
            <a:avLst/>
          </a:prstGeom>
          <a:noFill/>
          <a:ln/>
        </p:spPr>
        <p:txBody>
          <a:bodyPr wrap="square" lIns="0" tIns="0" rIns="0" bIns="0" rtlCol="0" anchor="ctr"/>
          <a:lstStyle/>
          <a:p>
            <a:pPr marL="0" indent="0">
              <a:buNone/>
            </a:pPr>
            <a:r>
              <a:rPr lang="en-US" sz="1400" b="1" dirty="0">
                <a:solidFill>
                  <a:schemeClr val="accent2"/>
                </a:solidFill>
              </a:rPr>
              <a:t>Objects in one operation</a:t>
            </a:r>
            <a:endParaRPr lang="en-US" sz="1400" dirty="0"/>
          </a:p>
          <a:p>
            <a:pPr marL="0" indent="0">
              <a:buNone/>
            </a:pPr>
            <a:r>
              <a:rPr lang="en-US" sz="1300" dirty="0">
                <a:solidFill>
                  <a:schemeClr val="bg1"/>
                </a:solidFill>
              </a:rPr>
              <a:t>Main &gt; AttendanceManager &gt; Student &gt; SubjectAttendance &gt; AttendanceCalculator &gt; Projection</a:t>
            </a:r>
            <a:endParaRPr lang="en-US" sz="1400" dirty="0"/>
          </a:p>
        </p:txBody>
      </p:sp>
      <p:sp>
        <p:nvSpPr>
          <p:cNvPr id="19" name="Terminal"/>
          <p:cNvSpPr/>
          <p:nvPr/>
        </p:nvSpPr>
        <p:spPr>
          <a:xfrm>
            <a:off x="5669280" y="1508760"/>
            <a:ext cx="5943600" cy="4663440"/>
          </a:xfrm>
          <a:prstGeom prst="roundRect">
            <a:avLst>
              <a:gd name="adj" fmla="val 1569"/>
            </a:avLst>
          </a:prstGeom>
          <a:solidFill>
            <a:schemeClr val="tx2"/>
          </a:solidFill>
          <a:ln/>
        </p:spPr>
      </p:sp>
      <p:sp>
        <p:nvSpPr>
          <p:cNvPr id="20" name="Text 17"/>
          <p:cNvSpPr txBox="1"/>
          <p:nvPr/>
        </p:nvSpPr>
        <p:spPr>
          <a:xfrm>
            <a:off x="5897880" y="1645920"/>
            <a:ext cx="5486400" cy="274320"/>
          </a:xfrm>
          <a:prstGeom prst="rect">
            <a:avLst/>
          </a:prstGeom>
          <a:noFill/>
          <a:ln/>
        </p:spPr>
        <p:txBody>
          <a:bodyPr wrap="square" lIns="0" tIns="0" rIns="0" bIns="0" rtlCol="0" anchor="ctr"/>
          <a:lstStyle/>
          <a:p>
            <a:pPr marL="0" indent="0">
              <a:buNone/>
            </a:pPr>
            <a:r>
              <a:rPr lang="en-US" sz="1200" b="1" kern="0" spc="200" dirty="0">
                <a:solidFill>
                  <a:schemeClr val="accent2"/>
                </a:solidFill>
              </a:rPr>
              <a:t>PROGRAM OUTPUT (abridged)</a:t>
            </a:r>
            <a:endParaRPr lang="en-US" sz="1200" dirty="0"/>
          </a:p>
        </p:txBody>
      </p:sp>
      <p:sp>
        <p:nvSpPr>
          <p:cNvPr id="21" name="Text 18"/>
          <p:cNvSpPr txBox="1"/>
          <p:nvPr/>
        </p:nvSpPr>
        <p:spPr>
          <a:xfrm>
            <a:off x="5897880" y="2057400"/>
            <a:ext cx="5486400" cy="3931920"/>
          </a:xfrm>
          <a:prstGeom prst="rect">
            <a:avLst/>
          </a:prstGeom>
          <a:noFill/>
          <a:ln/>
        </p:spPr>
        <p:txBody>
          <a:bodyPr wrap="square" lIns="0" tIns="0" rIns="0" bIns="0" rtlCol="0" anchor="t"/>
          <a:lstStyle/>
          <a:p>
            <a:pPr marL="0" indent="0">
              <a:spcAft>
                <a:spcPts val="400"/>
              </a:spcAft>
              <a:buNone/>
            </a:pPr>
            <a:r>
              <a:rPr lang="en-US" sz="1300" dirty="0">
                <a:solidFill>
                  <a:schemeClr val="accent6"/>
                </a:solidFill>
                <a:latin typeface="Courier New" pitchFamily="34" charset="0"/>
                <a:ea typeface="Courier New" pitchFamily="34" charset="-122"/>
                <a:cs typeface="Courier New" pitchFamily="34" charset="-120"/>
              </a:rPr>
              <a:t>Records loaded: 40 | Lines skipped: 0</a:t>
            </a:r>
            <a:endParaRPr lang="en-US" sz="1300" dirty="0"/>
          </a:p>
          <a:p>
            <a:pPr marL="0" indent="0">
              <a:spcAft>
                <a:spcPts val="400"/>
              </a:spcAft>
              <a:buNone/>
            </a:pPr>
            <a:endParaRPr lang="en-US" sz="1300" dirty="0"/>
          </a:p>
          <a:p>
            <a:pPr marL="0" indent="0">
              <a:spcAft>
                <a:spcPts val="400"/>
              </a:spcAft>
              <a:buNone/>
            </a:pPr>
            <a:r>
              <a:rPr lang="en-US" sz="1300" dirty="0">
                <a:solidFill>
                  <a:schemeClr val="accent6"/>
                </a:solidFill>
                <a:latin typeface="Courier New" pitchFamily="34" charset="0"/>
                <a:ea typeface="Courier New" pitchFamily="34" charset="-122"/>
                <a:cs typeface="Courier New" pitchFamily="34" charset="-120"/>
              </a:rPr>
              <a:t>SHORTAGE LIST (below 75.0%) - 13 case(s)</a:t>
            </a:r>
            <a:endParaRPr lang="en-US" sz="1300" dirty="0"/>
          </a:p>
          <a:p>
            <a:pPr marL="0" indent="0">
              <a:spcAft>
                <a:spcPts val="400"/>
              </a:spcAft>
              <a:buNone/>
            </a:pPr>
            <a:r>
              <a:rPr lang="en-US" sz="1300" dirty="0">
                <a:solidFill>
                  <a:schemeClr val="accent6"/>
                </a:solidFill>
                <a:latin typeface="Courier New" pitchFamily="34" charset="0"/>
                <a:ea typeface="Courier New" pitchFamily="34" charset="-122"/>
                <a:cs typeface="Courier New" pitchFamily="34" charset="-120"/>
              </a:rPr>
              <a:t>No.  ID         Name         Subject    %   Need</a:t>
            </a:r>
            <a:endParaRPr lang="en-US" sz="1300" dirty="0"/>
          </a:p>
          <a:p>
            <a:pPr marL="0" indent="0">
              <a:spcAft>
                <a:spcPts val="400"/>
              </a:spcAft>
              <a:buNone/>
            </a:pPr>
            <a:r>
              <a:rPr lang="en-US" sz="1300" dirty="0">
                <a:solidFill>
                  <a:schemeClr val="accent6"/>
                </a:solidFill>
                <a:latin typeface="Courier New" pitchFamily="34" charset="0"/>
                <a:ea typeface="Courier New" pitchFamily="34" charset="-122"/>
                <a:cs typeface="Courier New" pitchFamily="34" charset="-120"/>
              </a:rPr>
              <a:t>1  24BCE1003  Rohan Mehta  Disc. Maths 55.56%  28</a:t>
            </a:r>
            <a:endParaRPr lang="en-US" sz="1300" dirty="0"/>
          </a:p>
          <a:p>
            <a:pPr marL="0" indent="0">
              <a:spcAft>
                <a:spcPts val="400"/>
              </a:spcAft>
              <a:buNone/>
            </a:pPr>
            <a:r>
              <a:rPr lang="en-US" sz="1300" dirty="0">
                <a:solidFill>
                  <a:schemeClr val="accent6"/>
                </a:solidFill>
                <a:latin typeface="Courier New" pitchFamily="34" charset="0"/>
                <a:ea typeface="Courier New" pitchFamily="34" charset="-122"/>
                <a:cs typeface="Courier New" pitchFamily="34" charset="-120"/>
              </a:rPr>
              <a:t>6  24BCE1006  Meera Nair   Disc. Maths 69.44%   8</a:t>
            </a:r>
            <a:endParaRPr lang="en-US" sz="1300" dirty="0"/>
          </a:p>
          <a:p>
            <a:pPr marL="0" indent="0">
              <a:spcAft>
                <a:spcPts val="400"/>
              </a:spcAft>
              <a:buNone/>
            </a:pPr>
            <a:r>
              <a:rPr lang="en-US" sz="1300" dirty="0">
                <a:solidFill>
                  <a:schemeClr val="accent6"/>
                </a:solidFill>
                <a:latin typeface="Courier New" pitchFamily="34" charset="0"/>
                <a:ea typeface="Courier New" pitchFamily="34" charset="-122"/>
                <a:cs typeface="Courier New" pitchFamily="34" charset="-120"/>
              </a:rPr>
              <a:t>7  24BCE1007  Vikram Rao   DB Systems  71.05%   6</a:t>
            </a:r>
            <a:endParaRPr lang="en-US" sz="1300" dirty="0"/>
          </a:p>
          <a:p>
            <a:pPr marL="0" indent="0">
              <a:spcAft>
                <a:spcPts val="400"/>
              </a:spcAft>
              <a:buNone/>
            </a:pPr>
            <a:endParaRPr lang="en-US" sz="1300" dirty="0"/>
          </a:p>
          <a:p>
            <a:pPr marL="0" indent="0">
              <a:spcAft>
                <a:spcPts val="400"/>
              </a:spcAft>
              <a:buNone/>
            </a:pPr>
            <a:r>
              <a:rPr lang="en-US" sz="1300" dirty="0">
                <a:solidFill>
                  <a:schemeClr val="accent6"/>
                </a:solidFill>
                <a:latin typeface="Courier New" pitchFamily="34" charset="0"/>
                <a:ea typeface="Courier New" pitchFamily="34" charset="-122"/>
                <a:cs typeface="Courier New" pitchFamily="34" charset="-120"/>
              </a:rPr>
              <a:t>Vikram Rao, Operating Systems: 30/42 (71.43%)</a:t>
            </a:r>
            <a:endParaRPr lang="en-US" sz="1300" dirty="0"/>
          </a:p>
          <a:p>
            <a:pPr marL="0" indent="0">
              <a:spcAft>
                <a:spcPts val="400"/>
              </a:spcAft>
              <a:buNone/>
            </a:pPr>
            <a:r>
              <a:rPr lang="en-US" sz="1300" dirty="0">
                <a:solidFill>
                  <a:schemeClr val="accent6"/>
                </a:solidFill>
                <a:latin typeface="Courier New" pitchFamily="34" charset="0"/>
                <a:ea typeface="Courier New" pitchFamily="34" charset="-122"/>
                <a:cs typeface="Courier New" pitchFamily="34" charset="-120"/>
              </a:rPr>
              <a:t>12 classes left: attend at least 11 (can miss 1)</a:t>
            </a:r>
            <a:endParaRPr lang="en-US" sz="1300" dirty="0"/>
          </a:p>
          <a:p>
            <a:pPr marL="0" indent="0">
              <a:spcAft>
                <a:spcPts val="400"/>
              </a:spcAft>
              <a:buNone/>
            </a:pPr>
            <a:r>
              <a:rPr lang="en-US" sz="1300" dirty="0">
                <a:solidFill>
                  <a:schemeClr val="accent6"/>
                </a:solidFill>
                <a:latin typeface="Courier New" pitchFamily="34" charset="0"/>
                <a:ea typeface="Courier New" pitchFamily="34" charset="-122"/>
                <a:cs typeface="Courier New" pitchFamily="34" charset="-120"/>
              </a:rPr>
              <a:t> 5 classes left: NOT achievable, max 74.47%</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6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65760"/>
            <a:ext cx="5486400" cy="274320"/>
          </a:xfrm>
          <a:prstGeom prst="rect">
            <a:avLst/>
          </a:prstGeom>
          <a:noFill/>
          <a:ln/>
        </p:spPr>
        <p:txBody>
          <a:bodyPr wrap="square" lIns="0" tIns="0" rIns="0" bIns="0" rtlCol="0" anchor="ctr"/>
          <a:lstStyle/>
          <a:p>
            <a:pPr marL="0" indent="0">
              <a:buNone/>
            </a:pPr>
            <a:r>
              <a:rPr lang="en-US" sz="1200" b="1" kern="0" spc="300" dirty="0">
                <a:solidFill>
                  <a:schemeClr val="accent1"/>
                </a:solidFill>
              </a:rPr>
              <a:t>06  •  TESTING</a:t>
            </a:r>
            <a:endParaRPr lang="en-US" sz="1200" dirty="0"/>
          </a:p>
        </p:txBody>
      </p:sp>
      <p:sp>
        <p:nvSpPr>
          <p:cNvPr id="3" name="Text 1"/>
          <p:cNvSpPr>
            <a:spLocks noGrp="1"/>
          </p:cNvSpPr>
          <p:nvPr>
            <p:ph type="title" idx="101" hasCustomPrompt="1"/>
          </p:nvPr>
        </p:nvSpPr>
        <p:spPr>
          <a:xfrm>
            <a:off x="548640" y="685800"/>
            <a:ext cx="11064240" cy="685800"/>
          </a:xfrm>
          <a:prstGeom prst="rect">
            <a:avLst/>
          </a:prstGeom>
          <a:noFill/>
          <a:ln/>
        </p:spPr>
        <p:txBody>
          <a:bodyPr wrap="square" lIns="0" tIns="0" rIns="0" bIns="0" rtlCol="0" anchor="t"/>
          <a:lstStyle/>
          <a:p>
            <a:pPr marL="0" indent="0" algn="l">
              <a:buNone/>
            </a:pPr>
            <a:r>
              <a:rPr lang="en-US" sz="3200" b="1" dirty="0">
                <a:solidFill>
                  <a:schemeClr val="tx2"/>
                </a:solidFill>
              </a:rPr>
              <a:t>Testing, Results &amp; Limitations</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2194560"/>
        </p:xfrm>
        <a:graphic>
          <a:graphicData uri="http://schemas.openxmlformats.org/drawingml/2006/table">
            <a:tbl>
              <a:tblPr/>
              <a:tblGrid>
                <a:gridCol w="237744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438912">
                <a:tc>
                  <a:txBody>
                    <a:bodyPr/>
                    <a:lstStyle/>
                    <a:p>
                      <a:pPr marL="0" indent="0">
                        <a:buNone/>
                      </a:pPr>
                      <a:r>
                        <a:rPr lang="en-US" sz="1400" b="1" dirty="0">
                          <a:solidFill>
                            <a:srgbClr val="FFFFFF"/>
                          </a:solidFill>
                        </a:rPr>
                        <a:t>Test case</a:t>
                      </a:r>
                      <a:endParaRPr lang="en-US" sz="1400" dirty="0"/>
                    </a:p>
                  </a:txBody>
                  <a:tcPr anchor="ctr">
                    <a:lnL w="9525" cap="flat" cmpd="sng" algn="ctr">
                      <a:solidFill>
                        <a:srgbClr val="CFDAD6"/>
                      </a:solidFill>
                      <a:prstDash val="solid"/>
                      <a:round/>
                      <a:headEnd type="none" w="med" len="med"/>
                      <a:tailEnd type="none" w="med" len="med"/>
                    </a:lnL>
                    <a:lnR w="9525" cap="flat" cmpd="sng" algn="ctr">
                      <a:solidFill>
                        <a:srgbClr val="CFDAD6"/>
                      </a:solidFill>
                      <a:prstDash val="solid"/>
                      <a:round/>
                      <a:headEnd type="none" w="med" len="med"/>
                      <a:tailEnd type="none" w="med" len="med"/>
                    </a:lnR>
                    <a:lnT w="9525" cap="flat" cmpd="sng" algn="ctr">
                      <a:solidFill>
                        <a:srgbClr val="CFDAD6"/>
                      </a:solidFill>
                      <a:prstDash val="solid"/>
                      <a:round/>
                      <a:headEnd type="none" w="med" len="med"/>
                      <a:tailEnd type="none" w="med" len="med"/>
                    </a:lnT>
                    <a:lnB w="9525" cap="flat" cmpd="sng" algn="ctr">
                      <a:solidFill>
                        <a:srgbClr val="CFDAD6"/>
                      </a:solidFill>
                      <a:prstDash val="solid"/>
                      <a:round/>
                      <a:headEnd type="none" w="med" len="med"/>
                      <a:tailEnd type="none" w="med" len="med"/>
                    </a:lnB>
                    <a:solidFill>
                      <a:srgbClr val="0F2A24"/>
                    </a:solidFill>
                  </a:tcPr>
                </a:tc>
                <a:tc>
                  <a:txBody>
                    <a:bodyPr/>
                    <a:lstStyle/>
                    <a:p>
                      <a:pPr marL="0" indent="0">
                        <a:buNone/>
                      </a:pPr>
                      <a:r>
                        <a:rPr lang="en-US" sz="1400" b="1" dirty="0">
                          <a:solidFill>
                            <a:srgbClr val="FFFFFF"/>
                          </a:solidFill>
                        </a:rPr>
                        <a:t>Input</a:t>
                      </a:r>
                      <a:endParaRPr lang="en-US" sz="1400" dirty="0"/>
                    </a:p>
                  </a:txBody>
                  <a:tcPr anchor="ctr">
                    <a:lnL w="9525" cap="flat" cmpd="sng" algn="ctr">
                      <a:solidFill>
                        <a:srgbClr val="CFDAD6"/>
                      </a:solidFill>
                      <a:prstDash val="solid"/>
                      <a:round/>
                      <a:headEnd type="none" w="med" len="med"/>
                      <a:tailEnd type="none" w="med" len="med"/>
                    </a:lnL>
                    <a:lnR w="9525" cap="flat" cmpd="sng" algn="ctr">
                      <a:solidFill>
                        <a:srgbClr val="CFDAD6"/>
                      </a:solidFill>
                      <a:prstDash val="solid"/>
                      <a:round/>
                      <a:headEnd type="none" w="med" len="med"/>
                      <a:tailEnd type="none" w="med" len="med"/>
                    </a:lnR>
                    <a:lnT w="9525" cap="flat" cmpd="sng" algn="ctr">
                      <a:solidFill>
                        <a:srgbClr val="CFDAD6"/>
                      </a:solidFill>
                      <a:prstDash val="solid"/>
                      <a:round/>
                      <a:headEnd type="none" w="med" len="med"/>
                      <a:tailEnd type="none" w="med" len="med"/>
                    </a:lnT>
                    <a:lnB w="9525" cap="flat" cmpd="sng" algn="ctr">
                      <a:solidFill>
                        <a:srgbClr val="CFDAD6"/>
                      </a:solidFill>
                      <a:prstDash val="solid"/>
                      <a:round/>
                      <a:headEnd type="none" w="med" len="med"/>
                      <a:tailEnd type="none" w="med" len="med"/>
                    </a:lnB>
                    <a:solidFill>
                      <a:srgbClr val="0F2A24"/>
                    </a:solidFill>
                  </a:tcPr>
                </a:tc>
                <a:tc>
                  <a:txBody>
                    <a:bodyPr/>
                    <a:lstStyle/>
                    <a:p>
                      <a:pPr marL="0" indent="0">
                        <a:buNone/>
                      </a:pPr>
                      <a:r>
                        <a:rPr lang="en-US" sz="1400" b="1" dirty="0">
                          <a:solidFill>
                            <a:srgbClr val="FFFFFF"/>
                          </a:solidFill>
                        </a:rPr>
                        <a:t>Expected</a:t>
                      </a:r>
                      <a:endParaRPr lang="en-US" sz="1400" dirty="0"/>
                    </a:p>
                  </a:txBody>
                  <a:tcPr anchor="ctr">
                    <a:lnL w="9525" cap="flat" cmpd="sng" algn="ctr">
                      <a:solidFill>
                        <a:srgbClr val="CFDAD6"/>
                      </a:solidFill>
                      <a:prstDash val="solid"/>
                      <a:round/>
                      <a:headEnd type="none" w="med" len="med"/>
                      <a:tailEnd type="none" w="med" len="med"/>
                    </a:lnL>
                    <a:lnR w="9525" cap="flat" cmpd="sng" algn="ctr">
                      <a:solidFill>
                        <a:srgbClr val="CFDAD6"/>
                      </a:solidFill>
                      <a:prstDash val="solid"/>
                      <a:round/>
                      <a:headEnd type="none" w="med" len="med"/>
                      <a:tailEnd type="none" w="med" len="med"/>
                    </a:lnR>
                    <a:lnT w="9525" cap="flat" cmpd="sng" algn="ctr">
                      <a:solidFill>
                        <a:srgbClr val="CFDAD6"/>
                      </a:solidFill>
                      <a:prstDash val="solid"/>
                      <a:round/>
                      <a:headEnd type="none" w="med" len="med"/>
                      <a:tailEnd type="none" w="med" len="med"/>
                    </a:lnT>
                    <a:lnB w="9525" cap="flat" cmpd="sng" algn="ctr">
                      <a:solidFill>
                        <a:srgbClr val="CFDAD6"/>
                      </a:solidFill>
                      <a:prstDash val="solid"/>
                      <a:round/>
                      <a:headEnd type="none" w="med" len="med"/>
                      <a:tailEnd type="none" w="med" len="med"/>
                    </a:lnB>
                    <a:solidFill>
                      <a:srgbClr val="0F2A24"/>
                    </a:solidFill>
                  </a:tcPr>
                </a:tc>
                <a:tc>
                  <a:txBody>
                    <a:bodyPr/>
                    <a:lstStyle/>
                    <a:p>
                      <a:pPr marL="0" indent="0">
                        <a:buNone/>
                      </a:pPr>
                      <a:r>
                        <a:rPr lang="en-US" sz="1400" b="1" dirty="0">
                          <a:solidFill>
                            <a:srgbClr val="FFFFFF"/>
                          </a:solidFill>
                        </a:rPr>
                        <a:t>Actual</a:t>
                      </a:r>
                      <a:endParaRPr lang="en-US" sz="1400" dirty="0"/>
                    </a:p>
                  </a:txBody>
                  <a:tcPr anchor="ctr">
                    <a:lnL w="9525" cap="flat" cmpd="sng" algn="ctr">
                      <a:solidFill>
                        <a:srgbClr val="CFDAD6"/>
                      </a:solidFill>
                      <a:prstDash val="solid"/>
                      <a:round/>
                      <a:headEnd type="none" w="med" len="med"/>
                      <a:tailEnd type="none" w="med" len="med"/>
                    </a:lnL>
                    <a:lnR w="9525" cap="flat" cmpd="sng" algn="ctr">
                      <a:solidFill>
                        <a:srgbClr val="CFDAD6"/>
                      </a:solidFill>
                      <a:prstDash val="solid"/>
                      <a:round/>
                      <a:headEnd type="none" w="med" len="med"/>
                      <a:tailEnd type="none" w="med" len="med"/>
                    </a:lnR>
                    <a:lnT w="9525" cap="flat" cmpd="sng" algn="ctr">
                      <a:solidFill>
                        <a:srgbClr val="CFDAD6"/>
                      </a:solidFill>
                      <a:prstDash val="solid"/>
                      <a:round/>
                      <a:headEnd type="none" w="med" len="med"/>
                      <a:tailEnd type="none" w="med" len="med"/>
                    </a:lnT>
                    <a:lnB w="9525" cap="flat" cmpd="sng" algn="ctr">
                      <a:solidFill>
                        <a:srgbClr val="CFDAD6"/>
                      </a:solidFill>
                      <a:prstDash val="solid"/>
                      <a:round/>
                      <a:headEnd type="none" w="med" len="med"/>
                      <a:tailEnd type="none" w="med" len="med"/>
                    </a:lnB>
                    <a:solidFill>
                      <a:srgbClr val="0F2A24"/>
                    </a:solidFill>
                  </a:tcPr>
                </a:tc>
                <a:tc>
                  <a:txBody>
                    <a:bodyPr/>
                    <a:lstStyle/>
                    <a:p>
                      <a:pPr marL="0" indent="0">
                        <a:buNone/>
                      </a:pPr>
                      <a:r>
                        <a:rPr lang="en-US" sz="1400" b="1" dirty="0">
                          <a:solidFill>
                            <a:srgbClr val="FFFFFF"/>
                          </a:solidFill>
                        </a:rPr>
                        <a:t>Result</a:t>
                      </a:r>
                      <a:endParaRPr lang="en-US" sz="1400" dirty="0"/>
                    </a:p>
                  </a:txBody>
                  <a:tcPr anchor="ctr">
                    <a:lnL w="9525" cap="flat" cmpd="sng" algn="ctr">
                      <a:solidFill>
                        <a:srgbClr val="CFDAD6"/>
                      </a:solidFill>
                      <a:prstDash val="solid"/>
                      <a:round/>
                      <a:headEnd type="none" w="med" len="med"/>
                      <a:tailEnd type="none" w="med" len="med"/>
                    </a:lnL>
                    <a:lnR w="9525" cap="flat" cmpd="sng" algn="ctr">
                      <a:solidFill>
                        <a:srgbClr val="CFDAD6"/>
                      </a:solidFill>
                      <a:prstDash val="solid"/>
                      <a:round/>
                      <a:headEnd type="none" w="med" len="med"/>
                      <a:tailEnd type="none" w="med" len="med"/>
                    </a:lnR>
                    <a:lnT w="9525" cap="flat" cmpd="sng" algn="ctr">
                      <a:solidFill>
                        <a:srgbClr val="CFDAD6"/>
                      </a:solidFill>
                      <a:prstDash val="solid"/>
                      <a:round/>
                      <a:headEnd type="none" w="med" len="med"/>
                      <a:tailEnd type="none" w="med" len="med"/>
                    </a:lnT>
                    <a:lnB w="9525" cap="flat" cmpd="sng" algn="ctr">
                      <a:solidFill>
                        <a:srgbClr val="CFDAD6"/>
                      </a:solidFill>
                      <a:prstDash val="solid"/>
                      <a:round/>
                      <a:headEnd type="none" w="med" len="med"/>
                      <a:tailEnd type="none" w="med" len="med"/>
                    </a:lnB>
                    <a:solidFill>
                      <a:srgbClr val="0F2A24"/>
                    </a:solidFill>
                  </a:tcPr>
                </a:tc>
                <a:extLst>
                  <a:ext uri="{0D108BD9-81ED-4DB2-BD59-A6C34878D82A}">
                    <a16:rowId xmlns:a16="http://schemas.microsoft.com/office/drawing/2014/main" val="10000"/>
                  </a:ext>
                </a:extLst>
              </a:tr>
              <a:tr h="438912">
                <a:tc>
                  <a:txBody>
                    <a:bodyPr/>
                    <a:lstStyle/>
                    <a:p>
                      <a:pPr marL="0" indent="0">
                        <a:buNone/>
                      </a:pPr>
                      <a:r>
                        <a:rPr lang="en-US" sz="1300" dirty="0">
                          <a:solidFill>
                            <a:srgbClr val="1B2B27"/>
                          </a:solidFill>
                        </a:rPr>
                        <a:t>Classes needed</a:t>
                      </a:r>
                      <a:endParaRPr lang="en-US" sz="1300" dirty="0"/>
                    </a:p>
                  </a:txBody>
                  <a:tcPr anchor="ctr">
                    <a:lnL w="9525" cap="flat" cmpd="sng" algn="ctr">
                      <a:solidFill>
                        <a:srgbClr val="CFDAD6"/>
                      </a:solidFill>
                      <a:prstDash val="solid"/>
                      <a:round/>
                      <a:headEnd type="none" w="med" len="med"/>
                      <a:tailEnd type="none" w="med" len="med"/>
                    </a:lnL>
                    <a:lnR w="9525" cap="flat" cmpd="sng" algn="ctr">
                      <a:solidFill>
                        <a:srgbClr val="CFDAD6"/>
                      </a:solidFill>
                      <a:prstDash val="solid"/>
                      <a:round/>
                      <a:headEnd type="none" w="med" len="med"/>
                      <a:tailEnd type="none" w="med" len="med"/>
                    </a:lnR>
                    <a:lnT w="9525" cap="flat" cmpd="sng" algn="ctr">
                      <a:solidFill>
                        <a:srgbClr val="CFDAD6"/>
                      </a:solidFill>
                      <a:prstDash val="solid"/>
                      <a:round/>
                      <a:headEnd type="none" w="med" len="med"/>
                      <a:tailEnd type="none" w="med" len="med"/>
                    </a:lnT>
                    <a:lnB w="9525" cap="flat" cmpd="sng" algn="ctr">
                      <a:solidFill>
                        <a:srgbClr val="CFDAD6"/>
                      </a:solidFill>
                      <a:prstDash val="solid"/>
                      <a:round/>
                      <a:headEnd type="none" w="med" len="med"/>
                      <a:tailEnd type="none" w="med" len="med"/>
                    </a:lnB>
                    <a:solidFill>
                      <a:srgbClr val="FFFFFF"/>
                    </a:solidFill>
                  </a:tcPr>
                </a:tc>
                <a:tc>
                  <a:txBody>
                    <a:bodyPr/>
                    <a:lstStyle/>
                    <a:p>
                      <a:pPr marL="0" indent="0">
                        <a:buNone/>
                      </a:pPr>
                      <a:r>
                        <a:rPr lang="en-US" sz="1300" dirty="0">
                          <a:solidFill>
                            <a:srgbClr val="1B2B27"/>
                          </a:solidFill>
                        </a:rPr>
                        <a:t>20/30 attended, 75% target</a:t>
                      </a:r>
                      <a:endParaRPr lang="en-US" sz="1300" dirty="0"/>
                    </a:p>
                  </a:txBody>
                  <a:tcPr anchor="ctr">
                    <a:lnL w="9525" cap="flat" cmpd="sng" algn="ctr">
                      <a:solidFill>
                        <a:srgbClr val="CFDAD6"/>
                      </a:solidFill>
                      <a:prstDash val="solid"/>
                      <a:round/>
                      <a:headEnd type="none" w="med" len="med"/>
                      <a:tailEnd type="none" w="med" len="med"/>
                    </a:lnL>
                    <a:lnR w="9525" cap="flat" cmpd="sng" algn="ctr">
                      <a:solidFill>
                        <a:srgbClr val="CFDAD6"/>
                      </a:solidFill>
                      <a:prstDash val="solid"/>
                      <a:round/>
                      <a:headEnd type="none" w="med" len="med"/>
                      <a:tailEnd type="none" w="med" len="med"/>
                    </a:lnR>
                    <a:lnT w="9525" cap="flat" cmpd="sng" algn="ctr">
                      <a:solidFill>
                        <a:srgbClr val="CFDAD6"/>
                      </a:solidFill>
                      <a:prstDash val="solid"/>
                      <a:round/>
                      <a:headEnd type="none" w="med" len="med"/>
                      <a:tailEnd type="none" w="med" len="med"/>
                    </a:lnT>
                    <a:lnB w="9525" cap="flat" cmpd="sng" algn="ctr">
                      <a:solidFill>
                        <a:srgbClr val="CFDAD6"/>
                      </a:solidFill>
                      <a:prstDash val="solid"/>
                      <a:round/>
                      <a:headEnd type="none" w="med" len="med"/>
                      <a:tailEnd type="none" w="med" len="med"/>
                    </a:lnB>
                    <a:solidFill>
                      <a:srgbClr val="FFFFFF"/>
                    </a:solidFill>
                  </a:tcPr>
                </a:tc>
                <a:tc>
                  <a:txBody>
                    <a:bodyPr/>
                    <a:lstStyle/>
                    <a:p>
                      <a:pPr marL="0" indent="0">
                        <a:buNone/>
                      </a:pPr>
                      <a:r>
                        <a:rPr lang="en-US" sz="1300" dirty="0">
                          <a:solidFill>
                            <a:srgbClr val="1B2B27"/>
                          </a:solidFill>
                        </a:rPr>
                        <a:t>10</a:t>
                      </a:r>
                      <a:endParaRPr lang="en-US" sz="1300" dirty="0"/>
                    </a:p>
                  </a:txBody>
                  <a:tcPr anchor="ctr">
                    <a:lnL w="9525" cap="flat" cmpd="sng" algn="ctr">
                      <a:solidFill>
                        <a:srgbClr val="CFDAD6"/>
                      </a:solidFill>
                      <a:prstDash val="solid"/>
                      <a:round/>
                      <a:headEnd type="none" w="med" len="med"/>
                      <a:tailEnd type="none" w="med" len="med"/>
                    </a:lnL>
                    <a:lnR w="9525" cap="flat" cmpd="sng" algn="ctr">
                      <a:solidFill>
                        <a:srgbClr val="CFDAD6"/>
                      </a:solidFill>
                      <a:prstDash val="solid"/>
                      <a:round/>
                      <a:headEnd type="none" w="med" len="med"/>
                      <a:tailEnd type="none" w="med" len="med"/>
                    </a:lnR>
                    <a:lnT w="9525" cap="flat" cmpd="sng" algn="ctr">
                      <a:solidFill>
                        <a:srgbClr val="CFDAD6"/>
                      </a:solidFill>
                      <a:prstDash val="solid"/>
                      <a:round/>
                      <a:headEnd type="none" w="med" len="med"/>
                      <a:tailEnd type="none" w="med" len="med"/>
                    </a:lnT>
                    <a:lnB w="9525" cap="flat" cmpd="sng" algn="ctr">
                      <a:solidFill>
                        <a:srgbClr val="CFDAD6"/>
                      </a:solidFill>
                      <a:prstDash val="solid"/>
                      <a:round/>
                      <a:headEnd type="none" w="med" len="med"/>
                      <a:tailEnd type="none" w="med" len="med"/>
                    </a:lnB>
                    <a:solidFill>
                      <a:srgbClr val="FFFFFF"/>
                    </a:solidFill>
                  </a:tcPr>
                </a:tc>
                <a:tc>
                  <a:txBody>
                    <a:bodyPr/>
                    <a:lstStyle/>
                    <a:p>
                      <a:pPr marL="0" indent="0">
                        <a:buNone/>
                      </a:pPr>
                      <a:r>
                        <a:rPr lang="en-US" sz="1300" dirty="0">
                          <a:solidFill>
                            <a:srgbClr val="1B2B27"/>
                          </a:solidFill>
                        </a:rPr>
                        <a:t>10</a:t>
                      </a:r>
                      <a:endParaRPr lang="en-US" sz="1300" dirty="0"/>
                    </a:p>
                  </a:txBody>
                  <a:tcPr anchor="ctr">
                    <a:lnL w="9525" cap="flat" cmpd="sng" algn="ctr">
                      <a:solidFill>
                        <a:srgbClr val="CFDAD6"/>
                      </a:solidFill>
                      <a:prstDash val="solid"/>
                      <a:round/>
                      <a:headEnd type="none" w="med" len="med"/>
                      <a:tailEnd type="none" w="med" len="med"/>
                    </a:lnL>
                    <a:lnR w="9525" cap="flat" cmpd="sng" algn="ctr">
                      <a:solidFill>
                        <a:srgbClr val="CFDAD6"/>
                      </a:solidFill>
                      <a:prstDash val="solid"/>
                      <a:round/>
                      <a:headEnd type="none" w="med" len="med"/>
                      <a:tailEnd type="none" w="med" len="med"/>
                    </a:lnR>
                    <a:lnT w="9525" cap="flat" cmpd="sng" algn="ctr">
                      <a:solidFill>
                        <a:srgbClr val="CFDAD6"/>
                      </a:solidFill>
                      <a:prstDash val="solid"/>
                      <a:round/>
                      <a:headEnd type="none" w="med" len="med"/>
                      <a:tailEnd type="none" w="med" len="med"/>
                    </a:lnT>
                    <a:lnB w="9525" cap="flat" cmpd="sng" algn="ctr">
                      <a:solidFill>
                        <a:srgbClr val="CFDAD6"/>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E9E6A"/>
                          </a:solidFill>
                        </a:rPr>
                        <a:t>PASS</a:t>
                      </a:r>
                      <a:endParaRPr lang="en-US" sz="1300" dirty="0"/>
                    </a:p>
                  </a:txBody>
                  <a:tcPr anchor="ctr">
                    <a:lnL w="9525" cap="flat" cmpd="sng" algn="ctr">
                      <a:solidFill>
                        <a:srgbClr val="CFDAD6"/>
                      </a:solidFill>
                      <a:prstDash val="solid"/>
                      <a:round/>
                      <a:headEnd type="none" w="med" len="med"/>
                      <a:tailEnd type="none" w="med" len="med"/>
                    </a:lnL>
                    <a:lnR w="9525" cap="flat" cmpd="sng" algn="ctr">
                      <a:solidFill>
                        <a:srgbClr val="CFDAD6"/>
                      </a:solidFill>
                      <a:prstDash val="solid"/>
                      <a:round/>
                      <a:headEnd type="none" w="med" len="med"/>
                      <a:tailEnd type="none" w="med" len="med"/>
                    </a:lnR>
                    <a:lnT w="9525" cap="flat" cmpd="sng" algn="ctr">
                      <a:solidFill>
                        <a:srgbClr val="CFDAD6"/>
                      </a:solidFill>
                      <a:prstDash val="solid"/>
                      <a:round/>
                      <a:headEnd type="none" w="med" len="med"/>
                      <a:tailEnd type="none" w="med" len="med"/>
                    </a:lnT>
                    <a:lnB w="9525" cap="flat" cmpd="sng" algn="ctr">
                      <a:solidFill>
                        <a:srgbClr val="CFDA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buNone/>
                      </a:pPr>
                      <a:r>
                        <a:rPr lang="en-US" sz="1300" dirty="0">
                          <a:solidFill>
                            <a:srgbClr val="1B2B27"/>
                          </a:solidFill>
                        </a:rPr>
                        <a:t>Recovery projection</a:t>
                      </a:r>
                      <a:endParaRPr lang="en-US" sz="1300" dirty="0"/>
                    </a:p>
                  </a:txBody>
                  <a:tcPr anchor="ctr">
                    <a:lnL w="9525" cap="flat" cmpd="sng" algn="ctr">
                      <a:solidFill>
                        <a:srgbClr val="CFDAD6"/>
                      </a:solidFill>
                      <a:prstDash val="solid"/>
                      <a:round/>
                      <a:headEnd type="none" w="med" len="med"/>
                      <a:tailEnd type="none" w="med" len="med"/>
                    </a:lnL>
                    <a:lnR w="9525" cap="flat" cmpd="sng" algn="ctr">
                      <a:solidFill>
                        <a:srgbClr val="CFDAD6"/>
                      </a:solidFill>
                      <a:prstDash val="solid"/>
                      <a:round/>
                      <a:headEnd type="none" w="med" len="med"/>
                      <a:tailEnd type="none" w="med" len="med"/>
                    </a:lnR>
                    <a:lnT w="9525" cap="flat" cmpd="sng" algn="ctr">
                      <a:solidFill>
                        <a:srgbClr val="CFDAD6"/>
                      </a:solidFill>
                      <a:prstDash val="solid"/>
                      <a:round/>
                      <a:headEnd type="none" w="med" len="med"/>
                      <a:tailEnd type="none" w="med" len="med"/>
                    </a:lnT>
                    <a:lnB w="9525" cap="flat" cmpd="sng" algn="ctr">
                      <a:solidFill>
                        <a:srgbClr val="CFDAD6"/>
                      </a:solidFill>
                      <a:prstDash val="solid"/>
                      <a:round/>
                      <a:headEnd type="none" w="med" len="med"/>
                      <a:tailEnd type="none" w="med" len="med"/>
                    </a:lnB>
                    <a:solidFill>
                      <a:srgbClr val="FFFFFF"/>
                    </a:solidFill>
                  </a:tcPr>
                </a:tc>
                <a:tc>
                  <a:txBody>
                    <a:bodyPr/>
                    <a:lstStyle/>
                    <a:p>
                      <a:pPr marL="0" indent="0">
                        <a:buNone/>
                      </a:pPr>
                      <a:r>
                        <a:rPr lang="en-US" sz="1300" dirty="0">
                          <a:solidFill>
                            <a:srgbClr val="1B2B27"/>
                          </a:solidFill>
                        </a:rPr>
                        <a:t>20/30, 20 classes left</a:t>
                      </a:r>
                      <a:endParaRPr lang="en-US" sz="1300" dirty="0"/>
                    </a:p>
                  </a:txBody>
                  <a:tcPr anchor="ctr">
                    <a:lnL w="9525" cap="flat" cmpd="sng" algn="ctr">
                      <a:solidFill>
                        <a:srgbClr val="CFDAD6"/>
                      </a:solidFill>
                      <a:prstDash val="solid"/>
                      <a:round/>
                      <a:headEnd type="none" w="med" len="med"/>
                      <a:tailEnd type="none" w="med" len="med"/>
                    </a:lnL>
                    <a:lnR w="9525" cap="flat" cmpd="sng" algn="ctr">
                      <a:solidFill>
                        <a:srgbClr val="CFDAD6"/>
                      </a:solidFill>
                      <a:prstDash val="solid"/>
                      <a:round/>
                      <a:headEnd type="none" w="med" len="med"/>
                      <a:tailEnd type="none" w="med" len="med"/>
                    </a:lnR>
                    <a:lnT w="9525" cap="flat" cmpd="sng" algn="ctr">
                      <a:solidFill>
                        <a:srgbClr val="CFDAD6"/>
                      </a:solidFill>
                      <a:prstDash val="solid"/>
                      <a:round/>
                      <a:headEnd type="none" w="med" len="med"/>
                      <a:tailEnd type="none" w="med" len="med"/>
                    </a:lnT>
                    <a:lnB w="9525" cap="flat" cmpd="sng" algn="ctr">
                      <a:solidFill>
                        <a:srgbClr val="CFDAD6"/>
                      </a:solidFill>
                      <a:prstDash val="solid"/>
                      <a:round/>
                      <a:headEnd type="none" w="med" len="med"/>
                      <a:tailEnd type="none" w="med" len="med"/>
                    </a:lnB>
                    <a:solidFill>
                      <a:srgbClr val="FFFFFF"/>
                    </a:solidFill>
                  </a:tcPr>
                </a:tc>
                <a:tc>
                  <a:txBody>
                    <a:bodyPr/>
                    <a:lstStyle/>
                    <a:p>
                      <a:pPr marL="0" indent="0">
                        <a:buNone/>
                      </a:pPr>
                      <a:r>
                        <a:rPr lang="en-US" sz="1300" dirty="0">
                          <a:solidFill>
                            <a:srgbClr val="1B2B27"/>
                          </a:solidFill>
                        </a:rPr>
                        <a:t>attend 18</a:t>
                      </a:r>
                      <a:endParaRPr lang="en-US" sz="1300" dirty="0"/>
                    </a:p>
                  </a:txBody>
                  <a:tcPr anchor="ctr">
                    <a:lnL w="9525" cap="flat" cmpd="sng" algn="ctr">
                      <a:solidFill>
                        <a:srgbClr val="CFDAD6"/>
                      </a:solidFill>
                      <a:prstDash val="solid"/>
                      <a:round/>
                      <a:headEnd type="none" w="med" len="med"/>
                      <a:tailEnd type="none" w="med" len="med"/>
                    </a:lnL>
                    <a:lnR w="9525" cap="flat" cmpd="sng" algn="ctr">
                      <a:solidFill>
                        <a:srgbClr val="CFDAD6"/>
                      </a:solidFill>
                      <a:prstDash val="solid"/>
                      <a:round/>
                      <a:headEnd type="none" w="med" len="med"/>
                      <a:tailEnd type="none" w="med" len="med"/>
                    </a:lnR>
                    <a:lnT w="9525" cap="flat" cmpd="sng" algn="ctr">
                      <a:solidFill>
                        <a:srgbClr val="CFDAD6"/>
                      </a:solidFill>
                      <a:prstDash val="solid"/>
                      <a:round/>
                      <a:headEnd type="none" w="med" len="med"/>
                      <a:tailEnd type="none" w="med" len="med"/>
                    </a:lnT>
                    <a:lnB w="9525" cap="flat" cmpd="sng" algn="ctr">
                      <a:solidFill>
                        <a:srgbClr val="CFDAD6"/>
                      </a:solidFill>
                      <a:prstDash val="solid"/>
                      <a:round/>
                      <a:headEnd type="none" w="med" len="med"/>
                      <a:tailEnd type="none" w="med" len="med"/>
                    </a:lnB>
                    <a:solidFill>
                      <a:srgbClr val="FFFFFF"/>
                    </a:solidFill>
                  </a:tcPr>
                </a:tc>
                <a:tc>
                  <a:txBody>
                    <a:bodyPr/>
                    <a:lstStyle/>
                    <a:p>
                      <a:pPr marL="0" indent="0">
                        <a:buNone/>
                      </a:pPr>
                      <a:r>
                        <a:rPr lang="en-US" sz="1300" dirty="0">
                          <a:solidFill>
                            <a:srgbClr val="1B2B27"/>
                          </a:solidFill>
                        </a:rPr>
                        <a:t>attend 18</a:t>
                      </a:r>
                      <a:endParaRPr lang="en-US" sz="1300" dirty="0"/>
                    </a:p>
                  </a:txBody>
                  <a:tcPr anchor="ctr">
                    <a:lnL w="9525" cap="flat" cmpd="sng" algn="ctr">
                      <a:solidFill>
                        <a:srgbClr val="CFDAD6"/>
                      </a:solidFill>
                      <a:prstDash val="solid"/>
                      <a:round/>
                      <a:headEnd type="none" w="med" len="med"/>
                      <a:tailEnd type="none" w="med" len="med"/>
                    </a:lnL>
                    <a:lnR w="9525" cap="flat" cmpd="sng" algn="ctr">
                      <a:solidFill>
                        <a:srgbClr val="CFDAD6"/>
                      </a:solidFill>
                      <a:prstDash val="solid"/>
                      <a:round/>
                      <a:headEnd type="none" w="med" len="med"/>
                      <a:tailEnd type="none" w="med" len="med"/>
                    </a:lnR>
                    <a:lnT w="9525" cap="flat" cmpd="sng" algn="ctr">
                      <a:solidFill>
                        <a:srgbClr val="CFDAD6"/>
                      </a:solidFill>
                      <a:prstDash val="solid"/>
                      <a:round/>
                      <a:headEnd type="none" w="med" len="med"/>
                      <a:tailEnd type="none" w="med" len="med"/>
                    </a:lnT>
                    <a:lnB w="9525" cap="flat" cmpd="sng" algn="ctr">
                      <a:solidFill>
                        <a:srgbClr val="CFDAD6"/>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E9E6A"/>
                          </a:solidFill>
                        </a:rPr>
                        <a:t>PASS</a:t>
                      </a:r>
                      <a:endParaRPr lang="en-US" sz="1300" dirty="0"/>
                    </a:p>
                  </a:txBody>
                  <a:tcPr anchor="ctr">
                    <a:lnL w="9525" cap="flat" cmpd="sng" algn="ctr">
                      <a:solidFill>
                        <a:srgbClr val="CFDAD6"/>
                      </a:solidFill>
                      <a:prstDash val="solid"/>
                      <a:round/>
                      <a:headEnd type="none" w="med" len="med"/>
                      <a:tailEnd type="none" w="med" len="med"/>
                    </a:lnL>
                    <a:lnR w="9525" cap="flat" cmpd="sng" algn="ctr">
                      <a:solidFill>
                        <a:srgbClr val="CFDAD6"/>
                      </a:solidFill>
                      <a:prstDash val="solid"/>
                      <a:round/>
                      <a:headEnd type="none" w="med" len="med"/>
                      <a:tailEnd type="none" w="med" len="med"/>
                    </a:lnR>
                    <a:lnT w="9525" cap="flat" cmpd="sng" algn="ctr">
                      <a:solidFill>
                        <a:srgbClr val="CFDAD6"/>
                      </a:solidFill>
                      <a:prstDash val="solid"/>
                      <a:round/>
                      <a:headEnd type="none" w="med" len="med"/>
                      <a:tailEnd type="none" w="med" len="med"/>
                    </a:lnT>
                    <a:lnB w="9525" cap="flat" cmpd="sng" algn="ctr">
                      <a:solidFill>
                        <a:srgbClr val="CFDAD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38912">
                <a:tc>
                  <a:txBody>
                    <a:bodyPr/>
                    <a:lstStyle/>
                    <a:p>
                      <a:pPr marL="0" indent="0">
                        <a:buNone/>
                      </a:pPr>
                      <a:r>
                        <a:rPr lang="en-US" sz="1300" dirty="0">
                          <a:solidFill>
                            <a:srgbClr val="1B2B27"/>
                          </a:solidFill>
                        </a:rPr>
                        <a:t>Boundary</a:t>
                      </a:r>
                      <a:endParaRPr lang="en-US" sz="1300" dirty="0"/>
                    </a:p>
                  </a:txBody>
                  <a:tcPr anchor="ctr">
                    <a:lnL w="9525" cap="flat" cmpd="sng" algn="ctr">
                      <a:solidFill>
                        <a:srgbClr val="CFDAD6"/>
                      </a:solidFill>
                      <a:prstDash val="solid"/>
                      <a:round/>
                      <a:headEnd type="none" w="med" len="med"/>
                      <a:tailEnd type="none" w="med" len="med"/>
                    </a:lnL>
                    <a:lnR w="9525" cap="flat" cmpd="sng" algn="ctr">
                      <a:solidFill>
                        <a:srgbClr val="CFDAD6"/>
                      </a:solidFill>
                      <a:prstDash val="solid"/>
                      <a:round/>
                      <a:headEnd type="none" w="med" len="med"/>
                      <a:tailEnd type="none" w="med" len="med"/>
                    </a:lnR>
                    <a:lnT w="9525" cap="flat" cmpd="sng" algn="ctr">
                      <a:solidFill>
                        <a:srgbClr val="CFDAD6"/>
                      </a:solidFill>
                      <a:prstDash val="solid"/>
                      <a:round/>
                      <a:headEnd type="none" w="med" len="med"/>
                      <a:tailEnd type="none" w="med" len="med"/>
                    </a:lnT>
                    <a:lnB w="9525" cap="flat" cmpd="sng" algn="ctr">
                      <a:solidFill>
                        <a:srgbClr val="CFDAD6"/>
                      </a:solidFill>
                      <a:prstDash val="solid"/>
                      <a:round/>
                      <a:headEnd type="none" w="med" len="med"/>
                      <a:tailEnd type="none" w="med" len="med"/>
                    </a:lnB>
                    <a:solidFill>
                      <a:srgbClr val="FFFFFF"/>
                    </a:solidFill>
                  </a:tcPr>
                </a:tc>
                <a:tc>
                  <a:txBody>
                    <a:bodyPr/>
                    <a:lstStyle/>
                    <a:p>
                      <a:pPr marL="0" indent="0">
                        <a:buNone/>
                      </a:pPr>
                      <a:r>
                        <a:rPr lang="en-US" sz="1300" dirty="0">
                          <a:solidFill>
                            <a:srgbClr val="1B2B27"/>
                          </a:solidFill>
                        </a:rPr>
                        <a:t>exactly 75.0%</a:t>
                      </a:r>
                      <a:endParaRPr lang="en-US" sz="1300" dirty="0"/>
                    </a:p>
                  </a:txBody>
                  <a:tcPr anchor="ctr">
                    <a:lnL w="9525" cap="flat" cmpd="sng" algn="ctr">
                      <a:solidFill>
                        <a:srgbClr val="CFDAD6"/>
                      </a:solidFill>
                      <a:prstDash val="solid"/>
                      <a:round/>
                      <a:headEnd type="none" w="med" len="med"/>
                      <a:tailEnd type="none" w="med" len="med"/>
                    </a:lnL>
                    <a:lnR w="9525" cap="flat" cmpd="sng" algn="ctr">
                      <a:solidFill>
                        <a:srgbClr val="CFDAD6"/>
                      </a:solidFill>
                      <a:prstDash val="solid"/>
                      <a:round/>
                      <a:headEnd type="none" w="med" len="med"/>
                      <a:tailEnd type="none" w="med" len="med"/>
                    </a:lnR>
                    <a:lnT w="9525" cap="flat" cmpd="sng" algn="ctr">
                      <a:solidFill>
                        <a:srgbClr val="CFDAD6"/>
                      </a:solidFill>
                      <a:prstDash val="solid"/>
                      <a:round/>
                      <a:headEnd type="none" w="med" len="med"/>
                      <a:tailEnd type="none" w="med" len="med"/>
                    </a:lnT>
                    <a:lnB w="9525" cap="flat" cmpd="sng" algn="ctr">
                      <a:solidFill>
                        <a:srgbClr val="CFDAD6"/>
                      </a:solidFill>
                      <a:prstDash val="solid"/>
                      <a:round/>
                      <a:headEnd type="none" w="med" len="med"/>
                      <a:tailEnd type="none" w="med" len="med"/>
                    </a:lnB>
                    <a:solidFill>
                      <a:srgbClr val="FFFFFF"/>
                    </a:solidFill>
                  </a:tcPr>
                </a:tc>
                <a:tc>
                  <a:txBody>
                    <a:bodyPr/>
                    <a:lstStyle/>
                    <a:p>
                      <a:pPr marL="0" indent="0">
                        <a:buNone/>
                      </a:pPr>
                      <a:r>
                        <a:rPr lang="en-US" sz="1300" dirty="0">
                          <a:solidFill>
                            <a:srgbClr val="1B2B27"/>
                          </a:solidFill>
                        </a:rPr>
                        <a:t>not a shortage</a:t>
                      </a:r>
                      <a:endParaRPr lang="en-US" sz="1300" dirty="0"/>
                    </a:p>
                  </a:txBody>
                  <a:tcPr anchor="ctr">
                    <a:lnL w="9525" cap="flat" cmpd="sng" algn="ctr">
                      <a:solidFill>
                        <a:srgbClr val="CFDAD6"/>
                      </a:solidFill>
                      <a:prstDash val="solid"/>
                      <a:round/>
                      <a:headEnd type="none" w="med" len="med"/>
                      <a:tailEnd type="none" w="med" len="med"/>
                    </a:lnL>
                    <a:lnR w="9525" cap="flat" cmpd="sng" algn="ctr">
                      <a:solidFill>
                        <a:srgbClr val="CFDAD6"/>
                      </a:solidFill>
                      <a:prstDash val="solid"/>
                      <a:round/>
                      <a:headEnd type="none" w="med" len="med"/>
                      <a:tailEnd type="none" w="med" len="med"/>
                    </a:lnR>
                    <a:lnT w="9525" cap="flat" cmpd="sng" algn="ctr">
                      <a:solidFill>
                        <a:srgbClr val="CFDAD6"/>
                      </a:solidFill>
                      <a:prstDash val="solid"/>
                      <a:round/>
                      <a:headEnd type="none" w="med" len="med"/>
                      <a:tailEnd type="none" w="med" len="med"/>
                    </a:lnT>
                    <a:lnB w="9525" cap="flat" cmpd="sng" algn="ctr">
                      <a:solidFill>
                        <a:srgbClr val="CFDAD6"/>
                      </a:solidFill>
                      <a:prstDash val="solid"/>
                      <a:round/>
                      <a:headEnd type="none" w="med" len="med"/>
                      <a:tailEnd type="none" w="med" len="med"/>
                    </a:lnB>
                    <a:solidFill>
                      <a:srgbClr val="FFFFFF"/>
                    </a:solidFill>
                  </a:tcPr>
                </a:tc>
                <a:tc>
                  <a:txBody>
                    <a:bodyPr/>
                    <a:lstStyle/>
                    <a:p>
                      <a:pPr marL="0" indent="0">
                        <a:buNone/>
                      </a:pPr>
                      <a:r>
                        <a:rPr lang="en-US" sz="1300" dirty="0">
                          <a:solidFill>
                            <a:srgbClr val="1B2B27"/>
                          </a:solidFill>
                        </a:rPr>
                        <a:t>not a shortage</a:t>
                      </a:r>
                      <a:endParaRPr lang="en-US" sz="1300" dirty="0"/>
                    </a:p>
                  </a:txBody>
                  <a:tcPr anchor="ctr">
                    <a:lnL w="9525" cap="flat" cmpd="sng" algn="ctr">
                      <a:solidFill>
                        <a:srgbClr val="CFDAD6"/>
                      </a:solidFill>
                      <a:prstDash val="solid"/>
                      <a:round/>
                      <a:headEnd type="none" w="med" len="med"/>
                      <a:tailEnd type="none" w="med" len="med"/>
                    </a:lnL>
                    <a:lnR w="9525" cap="flat" cmpd="sng" algn="ctr">
                      <a:solidFill>
                        <a:srgbClr val="CFDAD6"/>
                      </a:solidFill>
                      <a:prstDash val="solid"/>
                      <a:round/>
                      <a:headEnd type="none" w="med" len="med"/>
                      <a:tailEnd type="none" w="med" len="med"/>
                    </a:lnR>
                    <a:lnT w="9525" cap="flat" cmpd="sng" algn="ctr">
                      <a:solidFill>
                        <a:srgbClr val="CFDAD6"/>
                      </a:solidFill>
                      <a:prstDash val="solid"/>
                      <a:round/>
                      <a:headEnd type="none" w="med" len="med"/>
                      <a:tailEnd type="none" w="med" len="med"/>
                    </a:lnT>
                    <a:lnB w="9525" cap="flat" cmpd="sng" algn="ctr">
                      <a:solidFill>
                        <a:srgbClr val="CFDAD6"/>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E9E6A"/>
                          </a:solidFill>
                        </a:rPr>
                        <a:t>PASS</a:t>
                      </a:r>
                      <a:endParaRPr lang="en-US" sz="1300" dirty="0"/>
                    </a:p>
                  </a:txBody>
                  <a:tcPr anchor="ctr">
                    <a:lnL w="9525" cap="flat" cmpd="sng" algn="ctr">
                      <a:solidFill>
                        <a:srgbClr val="CFDAD6"/>
                      </a:solidFill>
                      <a:prstDash val="solid"/>
                      <a:round/>
                      <a:headEnd type="none" w="med" len="med"/>
                      <a:tailEnd type="none" w="med" len="med"/>
                    </a:lnL>
                    <a:lnR w="9525" cap="flat" cmpd="sng" algn="ctr">
                      <a:solidFill>
                        <a:srgbClr val="CFDAD6"/>
                      </a:solidFill>
                      <a:prstDash val="solid"/>
                      <a:round/>
                      <a:headEnd type="none" w="med" len="med"/>
                      <a:tailEnd type="none" w="med" len="med"/>
                    </a:lnR>
                    <a:lnT w="9525" cap="flat" cmpd="sng" algn="ctr">
                      <a:solidFill>
                        <a:srgbClr val="CFDAD6"/>
                      </a:solidFill>
                      <a:prstDash val="solid"/>
                      <a:round/>
                      <a:headEnd type="none" w="med" len="med"/>
                      <a:tailEnd type="none" w="med" len="med"/>
                    </a:lnT>
                    <a:lnB w="9525" cap="flat" cmpd="sng" algn="ctr">
                      <a:solidFill>
                        <a:srgbClr val="CFDA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912">
                <a:tc>
                  <a:txBody>
                    <a:bodyPr/>
                    <a:lstStyle/>
                    <a:p>
                      <a:pPr marL="0" indent="0">
                        <a:buNone/>
                      </a:pPr>
                      <a:r>
                        <a:rPr lang="en-US" sz="1300" b="1" dirty="0">
                          <a:solidFill>
                            <a:srgbClr val="1B2B27"/>
                          </a:solidFill>
                        </a:rPr>
                        <a:t>Edge: bad CSV</a:t>
                      </a:r>
                      <a:endParaRPr lang="en-US" sz="1300" dirty="0"/>
                    </a:p>
                  </a:txBody>
                  <a:tcPr anchor="ctr">
                    <a:lnL w="9525" cap="flat" cmpd="sng" algn="ctr">
                      <a:solidFill>
                        <a:srgbClr val="CFDAD6"/>
                      </a:solidFill>
                      <a:prstDash val="solid"/>
                      <a:round/>
                      <a:headEnd type="none" w="med" len="med"/>
                      <a:tailEnd type="none" w="med" len="med"/>
                    </a:lnL>
                    <a:lnR w="9525" cap="flat" cmpd="sng" algn="ctr">
                      <a:solidFill>
                        <a:srgbClr val="CFDAD6"/>
                      </a:solidFill>
                      <a:prstDash val="solid"/>
                      <a:round/>
                      <a:headEnd type="none" w="med" len="med"/>
                      <a:tailEnd type="none" w="med" len="med"/>
                    </a:lnR>
                    <a:lnT w="9525" cap="flat" cmpd="sng" algn="ctr">
                      <a:solidFill>
                        <a:srgbClr val="CFDAD6"/>
                      </a:solidFill>
                      <a:prstDash val="solid"/>
                      <a:round/>
                      <a:headEnd type="none" w="med" len="med"/>
                      <a:tailEnd type="none" w="med" len="med"/>
                    </a:lnT>
                    <a:lnB w="9525" cap="flat" cmpd="sng" algn="ctr">
                      <a:solidFill>
                        <a:srgbClr val="CFDAD6"/>
                      </a:solidFill>
                      <a:prstDash val="solid"/>
                      <a:round/>
                      <a:headEnd type="none" w="med" len="med"/>
                      <a:tailEnd type="none" w="med" len="med"/>
                    </a:lnB>
                    <a:solidFill>
                      <a:srgbClr val="FFFFFF"/>
                    </a:solidFill>
                  </a:tcPr>
                </a:tc>
                <a:tc>
                  <a:txBody>
                    <a:bodyPr/>
                    <a:lstStyle/>
                    <a:p>
                      <a:pPr marL="0" indent="0">
                        <a:buNone/>
                      </a:pPr>
                      <a:r>
                        <a:rPr lang="en-US" sz="1300" dirty="0">
                          <a:solidFill>
                            <a:srgbClr val="1B2B27"/>
                          </a:solidFill>
                        </a:rPr>
                        <a:t>6 lines, 4 invalid</a:t>
                      </a:r>
                      <a:endParaRPr lang="en-US" sz="1300" dirty="0"/>
                    </a:p>
                  </a:txBody>
                  <a:tcPr anchor="ctr">
                    <a:lnL w="9525" cap="flat" cmpd="sng" algn="ctr">
                      <a:solidFill>
                        <a:srgbClr val="CFDAD6"/>
                      </a:solidFill>
                      <a:prstDash val="solid"/>
                      <a:round/>
                      <a:headEnd type="none" w="med" len="med"/>
                      <a:tailEnd type="none" w="med" len="med"/>
                    </a:lnL>
                    <a:lnR w="9525" cap="flat" cmpd="sng" algn="ctr">
                      <a:solidFill>
                        <a:srgbClr val="CFDAD6"/>
                      </a:solidFill>
                      <a:prstDash val="solid"/>
                      <a:round/>
                      <a:headEnd type="none" w="med" len="med"/>
                      <a:tailEnd type="none" w="med" len="med"/>
                    </a:lnR>
                    <a:lnT w="9525" cap="flat" cmpd="sng" algn="ctr">
                      <a:solidFill>
                        <a:srgbClr val="CFDAD6"/>
                      </a:solidFill>
                      <a:prstDash val="solid"/>
                      <a:round/>
                      <a:headEnd type="none" w="med" len="med"/>
                      <a:tailEnd type="none" w="med" len="med"/>
                    </a:lnT>
                    <a:lnB w="9525" cap="flat" cmpd="sng" algn="ctr">
                      <a:solidFill>
                        <a:srgbClr val="CFDAD6"/>
                      </a:solidFill>
                      <a:prstDash val="solid"/>
                      <a:round/>
                      <a:headEnd type="none" w="med" len="med"/>
                      <a:tailEnd type="none" w="med" len="med"/>
                    </a:lnB>
                    <a:solidFill>
                      <a:srgbClr val="FFFFFF"/>
                    </a:solidFill>
                  </a:tcPr>
                </a:tc>
                <a:tc>
                  <a:txBody>
                    <a:bodyPr/>
                    <a:lstStyle/>
                    <a:p>
                      <a:pPr marL="0" indent="0">
                        <a:buNone/>
                      </a:pPr>
                      <a:r>
                        <a:rPr lang="en-US" sz="1300" dirty="0">
                          <a:solidFill>
                            <a:srgbClr val="1B2B27"/>
                          </a:solidFill>
                        </a:rPr>
                        <a:t>2 loaded, 4 skipped</a:t>
                      </a:r>
                      <a:endParaRPr lang="en-US" sz="1300" dirty="0"/>
                    </a:p>
                  </a:txBody>
                  <a:tcPr anchor="ctr">
                    <a:lnL w="9525" cap="flat" cmpd="sng" algn="ctr">
                      <a:solidFill>
                        <a:srgbClr val="CFDAD6"/>
                      </a:solidFill>
                      <a:prstDash val="solid"/>
                      <a:round/>
                      <a:headEnd type="none" w="med" len="med"/>
                      <a:tailEnd type="none" w="med" len="med"/>
                    </a:lnL>
                    <a:lnR w="9525" cap="flat" cmpd="sng" algn="ctr">
                      <a:solidFill>
                        <a:srgbClr val="CFDAD6"/>
                      </a:solidFill>
                      <a:prstDash val="solid"/>
                      <a:round/>
                      <a:headEnd type="none" w="med" len="med"/>
                      <a:tailEnd type="none" w="med" len="med"/>
                    </a:lnR>
                    <a:lnT w="9525" cap="flat" cmpd="sng" algn="ctr">
                      <a:solidFill>
                        <a:srgbClr val="CFDAD6"/>
                      </a:solidFill>
                      <a:prstDash val="solid"/>
                      <a:round/>
                      <a:headEnd type="none" w="med" len="med"/>
                      <a:tailEnd type="none" w="med" len="med"/>
                    </a:lnT>
                    <a:lnB w="9525" cap="flat" cmpd="sng" algn="ctr">
                      <a:solidFill>
                        <a:srgbClr val="CFDAD6"/>
                      </a:solidFill>
                      <a:prstDash val="solid"/>
                      <a:round/>
                      <a:headEnd type="none" w="med" len="med"/>
                      <a:tailEnd type="none" w="med" len="med"/>
                    </a:lnB>
                    <a:solidFill>
                      <a:srgbClr val="FFFFFF"/>
                    </a:solidFill>
                  </a:tcPr>
                </a:tc>
                <a:tc>
                  <a:txBody>
                    <a:bodyPr/>
                    <a:lstStyle/>
                    <a:p>
                      <a:pPr marL="0" indent="0">
                        <a:buNone/>
                      </a:pPr>
                      <a:r>
                        <a:rPr lang="en-US" sz="1300" dirty="0">
                          <a:solidFill>
                            <a:srgbClr val="1B2B27"/>
                          </a:solidFill>
                        </a:rPr>
                        <a:t>2 loaded, 4 skipped</a:t>
                      </a:r>
                      <a:endParaRPr lang="en-US" sz="1300" dirty="0"/>
                    </a:p>
                  </a:txBody>
                  <a:tcPr anchor="ctr">
                    <a:lnL w="9525" cap="flat" cmpd="sng" algn="ctr">
                      <a:solidFill>
                        <a:srgbClr val="CFDAD6"/>
                      </a:solidFill>
                      <a:prstDash val="solid"/>
                      <a:round/>
                      <a:headEnd type="none" w="med" len="med"/>
                      <a:tailEnd type="none" w="med" len="med"/>
                    </a:lnL>
                    <a:lnR w="9525" cap="flat" cmpd="sng" algn="ctr">
                      <a:solidFill>
                        <a:srgbClr val="CFDAD6"/>
                      </a:solidFill>
                      <a:prstDash val="solid"/>
                      <a:round/>
                      <a:headEnd type="none" w="med" len="med"/>
                      <a:tailEnd type="none" w="med" len="med"/>
                    </a:lnR>
                    <a:lnT w="9525" cap="flat" cmpd="sng" algn="ctr">
                      <a:solidFill>
                        <a:srgbClr val="CFDAD6"/>
                      </a:solidFill>
                      <a:prstDash val="solid"/>
                      <a:round/>
                      <a:headEnd type="none" w="med" len="med"/>
                      <a:tailEnd type="none" w="med" len="med"/>
                    </a:lnT>
                    <a:lnB w="9525" cap="flat" cmpd="sng" algn="ctr">
                      <a:solidFill>
                        <a:srgbClr val="CFDAD6"/>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E9E6A"/>
                          </a:solidFill>
                        </a:rPr>
                        <a:t>PASS</a:t>
                      </a:r>
                      <a:endParaRPr lang="en-US" sz="1300" dirty="0"/>
                    </a:p>
                  </a:txBody>
                  <a:tcPr anchor="ctr">
                    <a:lnL w="9525" cap="flat" cmpd="sng" algn="ctr">
                      <a:solidFill>
                        <a:srgbClr val="CFDAD6"/>
                      </a:solidFill>
                      <a:prstDash val="solid"/>
                      <a:round/>
                      <a:headEnd type="none" w="med" len="med"/>
                      <a:tailEnd type="none" w="med" len="med"/>
                    </a:lnL>
                    <a:lnR w="9525" cap="flat" cmpd="sng" algn="ctr">
                      <a:solidFill>
                        <a:srgbClr val="CFDAD6"/>
                      </a:solidFill>
                      <a:prstDash val="solid"/>
                      <a:round/>
                      <a:headEnd type="none" w="med" len="med"/>
                      <a:tailEnd type="none" w="med" len="med"/>
                    </a:lnR>
                    <a:lnT w="9525" cap="flat" cmpd="sng" algn="ctr">
                      <a:solidFill>
                        <a:srgbClr val="CFDAD6"/>
                      </a:solidFill>
                      <a:prstDash val="solid"/>
                      <a:round/>
                      <a:headEnd type="none" w="med" len="med"/>
                      <a:tailEnd type="none" w="med" len="med"/>
                    </a:lnT>
                    <a:lnB w="9525" cap="flat" cmpd="sng" algn="ctr">
                      <a:solidFill>
                        <a:srgbClr val="CFDAD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Stat card"/>
          <p:cNvSpPr/>
          <p:nvPr/>
        </p:nvSpPr>
        <p:spPr>
          <a:xfrm>
            <a:off x="548640" y="4114800"/>
            <a:ext cx="2926080" cy="2057400"/>
          </a:xfrm>
          <a:prstGeom prst="roundRect">
            <a:avLst>
              <a:gd name="adj" fmla="val 3556"/>
            </a:avLst>
          </a:prstGeom>
          <a:solidFill>
            <a:schemeClr val="tx2"/>
          </a:solidFill>
          <a:ln/>
        </p:spPr>
      </p:sp>
      <p:sp>
        <p:nvSpPr>
          <p:cNvPr id="7" name="Text 3"/>
          <p:cNvSpPr txBox="1"/>
          <p:nvPr/>
        </p:nvSpPr>
        <p:spPr>
          <a:xfrm>
            <a:off x="548640" y="4389120"/>
            <a:ext cx="2926080" cy="822960"/>
          </a:xfrm>
          <a:prstGeom prst="rect">
            <a:avLst/>
          </a:prstGeom>
          <a:noFill/>
          <a:ln/>
        </p:spPr>
        <p:txBody>
          <a:bodyPr wrap="square" lIns="0" tIns="0" rIns="0" bIns="0" rtlCol="0" anchor="ctr"/>
          <a:lstStyle/>
          <a:p>
            <a:pPr marL="0" indent="0" algn="ctr">
              <a:buNone/>
            </a:pPr>
            <a:r>
              <a:rPr lang="en-US" sz="4400" b="1" dirty="0">
                <a:solidFill>
                  <a:schemeClr val="bg1"/>
                </a:solidFill>
              </a:rPr>
              <a:t>19 / 19</a:t>
            </a:r>
            <a:endParaRPr lang="en-US" sz="4400" dirty="0"/>
          </a:p>
        </p:txBody>
      </p:sp>
      <p:sp>
        <p:nvSpPr>
          <p:cNvPr id="4" name="Text 4"/>
          <p:cNvSpPr txBox="1"/>
          <p:nvPr/>
        </p:nvSpPr>
        <p:spPr>
          <a:xfrm>
            <a:off x="731520" y="5257800"/>
            <a:ext cx="2560320" cy="640080"/>
          </a:xfrm>
          <a:prstGeom prst="rect">
            <a:avLst/>
          </a:prstGeom>
          <a:noFill/>
          <a:ln/>
        </p:spPr>
        <p:txBody>
          <a:bodyPr wrap="square" lIns="0" tIns="0" rIns="0" bIns="0" rtlCol="0" anchor="t"/>
          <a:lstStyle/>
          <a:p>
            <a:pPr marL="0" indent="0" algn="ctr">
              <a:buNone/>
            </a:pPr>
            <a:r>
              <a:rPr lang="en-US" sz="1400" dirty="0">
                <a:solidFill>
                  <a:schemeClr val="accent6"/>
                </a:solidFill>
              </a:rPr>
              <a:t>test cases passed in the final run</a:t>
            </a:r>
            <a:endParaRPr lang="en-US" sz="1400" dirty="0"/>
          </a:p>
        </p:txBody>
      </p:sp>
      <p:sp>
        <p:nvSpPr>
          <p:cNvPr id="9" name="Complete card"/>
          <p:cNvSpPr/>
          <p:nvPr/>
        </p:nvSpPr>
        <p:spPr>
          <a:xfrm>
            <a:off x="3657600" y="4114800"/>
            <a:ext cx="4023360" cy="2057400"/>
          </a:xfrm>
          <a:prstGeom prst="roundRect">
            <a:avLst>
              <a:gd name="adj" fmla="val 3556"/>
            </a:avLst>
          </a:prstGeom>
          <a:solidFill>
            <a:schemeClr val="bg2"/>
          </a:solidFill>
          <a:ln/>
        </p:spPr>
      </p:sp>
      <p:sp>
        <p:nvSpPr>
          <p:cNvPr id="10" name="Text 6"/>
          <p:cNvSpPr txBox="1"/>
          <p:nvPr/>
        </p:nvSpPr>
        <p:spPr>
          <a:xfrm>
            <a:off x="3886200" y="4297680"/>
            <a:ext cx="3566160" cy="1691640"/>
          </a:xfrm>
          <a:prstGeom prst="rect">
            <a:avLst/>
          </a:prstGeom>
          <a:noFill/>
          <a:ln/>
        </p:spPr>
        <p:txBody>
          <a:bodyPr wrap="square" lIns="0" tIns="0" rIns="0" bIns="0" rtlCol="0" anchor="t"/>
          <a:lstStyle/>
          <a:p>
            <a:pPr marL="0" indent="0">
              <a:buNone/>
            </a:pPr>
            <a:r>
              <a:rPr lang="en-US" sz="1600" b="1" dirty="0">
                <a:solidFill>
                  <a:schemeClr val="accent1"/>
                </a:solidFill>
              </a:rPr>
              <a:t>Complete</a:t>
            </a:r>
            <a:endParaRPr lang="en-US" sz="1600" dirty="0"/>
          </a:p>
          <a:p>
            <a:pPr marL="0" indent="0">
              <a:buNone/>
            </a:pPr>
            <a:r>
              <a:rPr lang="en-US" sz="1400" dirty="0">
                <a:solidFill>
                  <a:schemeClr val="tx1"/>
                </a:solidFill>
              </a:rPr>
              <a:t>CSV import and validation, percentages, shortage detection, classes needed or allowed to miss, projection, subject statistics, report export, 75% / 85% policies.</a:t>
            </a:r>
            <a:endParaRPr lang="en-US" sz="1600" dirty="0"/>
          </a:p>
        </p:txBody>
      </p:sp>
      <p:sp>
        <p:nvSpPr>
          <p:cNvPr id="11" name="Limited card"/>
          <p:cNvSpPr/>
          <p:nvPr/>
        </p:nvSpPr>
        <p:spPr>
          <a:xfrm>
            <a:off x="7863840" y="4114800"/>
            <a:ext cx="3749040" cy="2057400"/>
          </a:xfrm>
          <a:prstGeom prst="roundRect">
            <a:avLst>
              <a:gd name="adj" fmla="val 3556"/>
            </a:avLst>
          </a:prstGeom>
          <a:solidFill>
            <a:schemeClr val="bg2"/>
          </a:solidFill>
          <a:ln/>
        </p:spPr>
      </p:sp>
      <p:sp>
        <p:nvSpPr>
          <p:cNvPr id="12" name="Text 8"/>
          <p:cNvSpPr txBox="1"/>
          <p:nvPr/>
        </p:nvSpPr>
        <p:spPr>
          <a:xfrm>
            <a:off x="8092440" y="4297680"/>
            <a:ext cx="3291840" cy="1691640"/>
          </a:xfrm>
          <a:prstGeom prst="rect">
            <a:avLst/>
          </a:prstGeom>
          <a:noFill/>
          <a:ln/>
        </p:spPr>
        <p:txBody>
          <a:bodyPr wrap="square" lIns="0" tIns="0" rIns="0" bIns="0" rtlCol="0" anchor="t"/>
          <a:lstStyle/>
          <a:p>
            <a:pPr marL="0" indent="0">
              <a:buNone/>
            </a:pPr>
            <a:r>
              <a:rPr lang="en-US" sz="1600" b="1" dirty="0">
                <a:solidFill>
                  <a:schemeClr val="accent3"/>
                </a:solidFill>
              </a:rPr>
              <a:t>Limited</a:t>
            </a:r>
            <a:endParaRPr lang="en-US" sz="1600" dirty="0"/>
          </a:p>
          <a:p>
            <a:pPr marL="0" indent="0">
              <a:buNone/>
            </a:pPr>
            <a:r>
              <a:rPr lang="en-US" sz="1400" dirty="0">
                <a:solidFill>
                  <a:schemeClr val="tx1"/>
                </a:solidFill>
              </a:rPr>
              <a:t>Cumulative counts only (no day-wise records), console interface, sample data is fictional, tests use a custom runner instead of JUnit.</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6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txBox="1"/>
          <p:nvPr/>
        </p:nvSpPr>
        <p:spPr>
          <a:xfrm>
            <a:off x="731520" y="457200"/>
            <a:ext cx="5486400" cy="274320"/>
          </a:xfrm>
          <a:prstGeom prst="rect">
            <a:avLst/>
          </a:prstGeom>
          <a:noFill/>
          <a:ln/>
        </p:spPr>
        <p:txBody>
          <a:bodyPr wrap="square" lIns="0" tIns="0" rIns="0" bIns="0" rtlCol="0" anchor="ctr"/>
          <a:lstStyle/>
          <a:p>
            <a:pPr marL="0" indent="0">
              <a:buNone/>
            </a:pPr>
            <a:r>
              <a:rPr lang="en-US" sz="1200" b="1" kern="0" spc="300" dirty="0">
                <a:solidFill>
                  <a:schemeClr val="accent2"/>
                </a:solidFill>
              </a:rPr>
              <a:t>07  •  WRAP-UP</a:t>
            </a:r>
            <a:endParaRPr lang="en-US" sz="1200" dirty="0"/>
          </a:p>
        </p:txBody>
      </p:sp>
      <p:sp>
        <p:nvSpPr>
          <p:cNvPr id="4" name="Text 1"/>
          <p:cNvSpPr txBox="1"/>
          <p:nvPr/>
        </p:nvSpPr>
        <p:spPr>
          <a:xfrm>
            <a:off x="731520" y="777240"/>
            <a:ext cx="10698480" cy="731520"/>
          </a:xfrm>
          <a:prstGeom prst="rect">
            <a:avLst/>
          </a:prstGeom>
          <a:noFill/>
          <a:ln/>
        </p:spPr>
        <p:txBody>
          <a:bodyPr wrap="square" lIns="0" tIns="0" rIns="0" bIns="0" rtlCol="0" anchor="t"/>
          <a:lstStyle/>
          <a:p>
            <a:pPr marL="0" indent="0">
              <a:buNone/>
            </a:pPr>
            <a:r>
              <a:rPr lang="en-US" sz="3200" b="1" dirty="0">
                <a:solidFill>
                  <a:schemeClr val="bg1"/>
                </a:solidFill>
                <a:latin typeface="+mj-lt" pitchFamily="34" charset="0"/>
                <a:ea typeface="+mj-lt" pitchFamily="34" charset="-122"/>
                <a:cs typeface="+mj-lt" pitchFamily="34" charset="-120"/>
              </a:rPr>
              <a:t>Conclusion &amp; Future Enhancements</a:t>
            </a:r>
            <a:endParaRPr lang="en-US" sz="3200" dirty="0"/>
          </a:p>
        </p:txBody>
      </p:sp>
      <p:sp>
        <p:nvSpPr>
          <p:cNvPr id="5" name="Column 1"/>
          <p:cNvSpPr/>
          <p:nvPr/>
        </p:nvSpPr>
        <p:spPr>
          <a:xfrm>
            <a:off x="731520" y="1783080"/>
            <a:ext cx="3429000" cy="3017520"/>
          </a:xfrm>
          <a:prstGeom prst="roundRect">
            <a:avLst>
              <a:gd name="adj" fmla="val 2424"/>
            </a:avLst>
          </a:prstGeom>
          <a:solidFill>
            <a:schemeClr val="accent1"/>
          </a:solidFill>
          <a:ln/>
        </p:spPr>
      </p:sp>
      <p:sp>
        <p:nvSpPr>
          <p:cNvPr id="6" name="Text 3"/>
          <p:cNvSpPr txBox="1"/>
          <p:nvPr/>
        </p:nvSpPr>
        <p:spPr>
          <a:xfrm>
            <a:off x="960120" y="2011680"/>
            <a:ext cx="2971800" cy="457200"/>
          </a:xfrm>
          <a:prstGeom prst="rect">
            <a:avLst/>
          </a:prstGeom>
          <a:noFill/>
          <a:ln/>
        </p:spPr>
        <p:txBody>
          <a:bodyPr wrap="square" lIns="0" tIns="0" rIns="0" bIns="0" rtlCol="0" anchor="ctr"/>
          <a:lstStyle/>
          <a:p>
            <a:pPr marL="0" indent="0">
              <a:buNone/>
            </a:pPr>
            <a:r>
              <a:rPr lang="en-US" sz="1800" b="1" dirty="0">
                <a:solidFill>
                  <a:schemeClr val="accent2"/>
                </a:solidFill>
              </a:rPr>
              <a:t>What it achieves</a:t>
            </a:r>
            <a:endParaRPr lang="en-US" sz="1800" dirty="0"/>
          </a:p>
        </p:txBody>
      </p:sp>
      <p:sp>
        <p:nvSpPr>
          <p:cNvPr id="7" name="Text 4"/>
          <p:cNvSpPr txBox="1"/>
          <p:nvPr/>
        </p:nvSpPr>
        <p:spPr>
          <a:xfrm>
            <a:off x="960120" y="2560320"/>
            <a:ext cx="2971800" cy="2103120"/>
          </a:xfrm>
          <a:prstGeom prst="rect">
            <a:avLst/>
          </a:prstGeom>
          <a:noFill/>
          <a:ln/>
        </p:spPr>
        <p:txBody>
          <a:bodyPr wrap="square" lIns="0" tIns="0" rIns="0" bIns="0" rtlCol="0" anchor="t"/>
          <a:lstStyle/>
          <a:p>
            <a:pPr marL="0" indent="0">
              <a:buNone/>
            </a:pPr>
            <a:r>
              <a:rPr lang="en-US" sz="1800" dirty="0">
                <a:solidFill>
                  <a:schemeClr val="bg1"/>
                </a:solidFill>
              </a:rPr>
              <a:t>Turns raw attendance counts into clear actions: who is in shortage, how many classes to attend, and whether recovery is still possible.</a:t>
            </a:r>
            <a:endParaRPr lang="en-US" sz="1800" dirty="0"/>
          </a:p>
        </p:txBody>
      </p:sp>
      <p:sp>
        <p:nvSpPr>
          <p:cNvPr id="8" name="Column 2"/>
          <p:cNvSpPr/>
          <p:nvPr/>
        </p:nvSpPr>
        <p:spPr>
          <a:xfrm>
            <a:off x="4389120" y="1783080"/>
            <a:ext cx="3429000" cy="3017520"/>
          </a:xfrm>
          <a:prstGeom prst="roundRect">
            <a:avLst>
              <a:gd name="adj" fmla="val 2424"/>
            </a:avLst>
          </a:prstGeom>
          <a:solidFill>
            <a:schemeClr val="accent1"/>
          </a:solidFill>
          <a:ln/>
        </p:spPr>
      </p:sp>
      <p:sp>
        <p:nvSpPr>
          <p:cNvPr id="9" name="Text 6"/>
          <p:cNvSpPr txBox="1"/>
          <p:nvPr/>
        </p:nvSpPr>
        <p:spPr>
          <a:xfrm>
            <a:off x="4617720" y="2011680"/>
            <a:ext cx="2971800" cy="457200"/>
          </a:xfrm>
          <a:prstGeom prst="rect">
            <a:avLst/>
          </a:prstGeom>
          <a:noFill/>
          <a:ln/>
        </p:spPr>
        <p:txBody>
          <a:bodyPr wrap="square" lIns="0" tIns="0" rIns="0" bIns="0" rtlCol="0" anchor="ctr"/>
          <a:lstStyle/>
          <a:p>
            <a:pPr marL="0" indent="0">
              <a:buNone/>
            </a:pPr>
            <a:r>
              <a:rPr lang="en-US" sz="1800" b="1" dirty="0">
                <a:solidFill>
                  <a:schemeClr val="accent2"/>
                </a:solidFill>
              </a:rPr>
              <a:t>Key concept demonstrated</a:t>
            </a:r>
            <a:endParaRPr lang="en-US" sz="1800" dirty="0"/>
          </a:p>
        </p:txBody>
      </p:sp>
      <p:sp>
        <p:nvSpPr>
          <p:cNvPr id="10" name="Text 7"/>
          <p:cNvSpPr txBox="1"/>
          <p:nvPr/>
        </p:nvSpPr>
        <p:spPr>
          <a:xfrm>
            <a:off x="4617720" y="2560320"/>
            <a:ext cx="2971800" cy="2103120"/>
          </a:xfrm>
          <a:prstGeom prst="rect">
            <a:avLst/>
          </a:prstGeom>
          <a:noFill/>
          <a:ln/>
        </p:spPr>
        <p:txBody>
          <a:bodyPr wrap="square" lIns="0" tIns="0" rIns="0" bIns="0" rtlCol="0" anchor="t"/>
          <a:lstStyle/>
          <a:p>
            <a:pPr marL="0" indent="0">
              <a:buNone/>
            </a:pPr>
            <a:r>
              <a:rPr lang="en-US" sz="1800" dirty="0">
                <a:solidFill>
                  <a:schemeClr val="bg1"/>
                </a:solidFill>
              </a:rPr>
              <a:t>Abstraction and polymorphism through the AttendancePolicy interface. A new rule is a new class; nothing else changes.</a:t>
            </a:r>
            <a:endParaRPr lang="en-US" sz="1800" dirty="0"/>
          </a:p>
        </p:txBody>
      </p:sp>
      <p:sp>
        <p:nvSpPr>
          <p:cNvPr id="11" name="Column 3"/>
          <p:cNvSpPr/>
          <p:nvPr/>
        </p:nvSpPr>
        <p:spPr>
          <a:xfrm>
            <a:off x="8046720" y="1783080"/>
            <a:ext cx="3429000" cy="3017520"/>
          </a:xfrm>
          <a:prstGeom prst="roundRect">
            <a:avLst>
              <a:gd name="adj" fmla="val 2424"/>
            </a:avLst>
          </a:prstGeom>
          <a:solidFill>
            <a:schemeClr val="accent1"/>
          </a:solidFill>
          <a:ln/>
        </p:spPr>
      </p:sp>
      <p:sp>
        <p:nvSpPr>
          <p:cNvPr id="12" name="Text 9"/>
          <p:cNvSpPr txBox="1"/>
          <p:nvPr/>
        </p:nvSpPr>
        <p:spPr>
          <a:xfrm>
            <a:off x="8275320" y="2011680"/>
            <a:ext cx="2971800" cy="457200"/>
          </a:xfrm>
          <a:prstGeom prst="rect">
            <a:avLst/>
          </a:prstGeom>
          <a:noFill/>
          <a:ln/>
        </p:spPr>
        <p:txBody>
          <a:bodyPr wrap="square" lIns="0" tIns="0" rIns="0" bIns="0" rtlCol="0" anchor="ctr"/>
          <a:lstStyle/>
          <a:p>
            <a:pPr marL="0" indent="0">
              <a:buNone/>
            </a:pPr>
            <a:r>
              <a:rPr lang="en-US" sz="1800" b="1" dirty="0">
                <a:solidFill>
                  <a:schemeClr val="accent2"/>
                </a:solidFill>
              </a:rPr>
              <a:t>Future improvements</a:t>
            </a:r>
            <a:endParaRPr lang="en-US" sz="1800" dirty="0"/>
          </a:p>
        </p:txBody>
      </p:sp>
      <p:sp>
        <p:nvSpPr>
          <p:cNvPr id="13" name="Text 10"/>
          <p:cNvSpPr txBox="1"/>
          <p:nvPr/>
        </p:nvSpPr>
        <p:spPr>
          <a:xfrm>
            <a:off x="8275320" y="2560320"/>
            <a:ext cx="2971800" cy="2103120"/>
          </a:xfrm>
          <a:prstGeom prst="rect">
            <a:avLst/>
          </a:prstGeom>
          <a:noFill/>
          <a:ln/>
        </p:spPr>
        <p:txBody>
          <a:bodyPr wrap="square" lIns="0" tIns="0" rIns="0" bIns="0" rtlCol="0" anchor="t"/>
          <a:lstStyle/>
          <a:p>
            <a:pPr marL="0" indent="0">
              <a:buNone/>
            </a:pPr>
            <a:r>
              <a:rPr lang="en-US" sz="1800" dirty="0">
                <a:solidFill>
                  <a:schemeClr val="bg1"/>
                </a:solidFill>
              </a:rPr>
              <a:t>Day-wise attendance using LocalDate, and a Swing or JavaFX interface instead of the console.</a:t>
            </a:r>
            <a:endParaRPr lang="en-US" sz="1800" dirty="0"/>
          </a:p>
        </p:txBody>
      </p:sp>
      <p:sp>
        <p:nvSpPr>
          <p:cNvPr id="14" name="Text 11"/>
          <p:cNvSpPr txBox="1"/>
          <p:nvPr/>
        </p:nvSpPr>
        <p:spPr>
          <a:xfrm>
            <a:off x="731520" y="5166360"/>
            <a:ext cx="10698480" cy="822960"/>
          </a:xfrm>
          <a:prstGeom prst="rect">
            <a:avLst/>
          </a:prstGeom>
          <a:noFill/>
          <a:ln/>
        </p:spPr>
        <p:txBody>
          <a:bodyPr wrap="square" lIns="0" tIns="0" rIns="0" bIns="0" rtlCol="0" anchor="ctr"/>
          <a:lstStyle/>
          <a:p>
            <a:pPr marL="0" indent="0">
              <a:buNone/>
            </a:pPr>
            <a:r>
              <a:rPr lang="en-US" sz="2000" b="1" dirty="0">
                <a:solidFill>
                  <a:schemeClr val="accent2"/>
                </a:solidFill>
              </a:rPr>
              <a:t>Takeaway:  </a:t>
            </a:r>
            <a:r>
              <a:rPr lang="en-US" sz="2000" dirty="0">
                <a:solidFill>
                  <a:schemeClr val="bg1"/>
                </a:solidFill>
              </a:rPr>
              <a:t>keep data, rules and calculations in separate classes, and changing a rule means changing one class.</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txBox="1"/>
          <p:nvPr/>
        </p:nvSpPr>
        <p:spPr>
          <a:xfrm>
            <a:off x="731520" y="1920240"/>
            <a:ext cx="7315200" cy="1188720"/>
          </a:xfrm>
          <a:prstGeom prst="rect">
            <a:avLst/>
          </a:prstGeom>
          <a:noFill/>
          <a:ln/>
        </p:spPr>
        <p:txBody>
          <a:bodyPr wrap="square" lIns="0" tIns="0" rIns="0" bIns="0" rtlCol="0" anchor="ctr"/>
          <a:lstStyle/>
          <a:p>
            <a:pPr marL="0" indent="0">
              <a:buNone/>
            </a:pPr>
            <a:r>
              <a:rPr lang="en-US" sz="6000" b="1" dirty="0">
                <a:solidFill>
                  <a:schemeClr val="bg1"/>
                </a:solidFill>
                <a:latin typeface="+mj-lt" pitchFamily="34" charset="0"/>
                <a:ea typeface="+mj-lt" pitchFamily="34" charset="-122"/>
                <a:cs typeface="+mj-lt" pitchFamily="34" charset="-120"/>
              </a:rPr>
              <a:t>Thank You</a:t>
            </a:r>
            <a:endParaRPr lang="en-US" sz="6000" dirty="0"/>
          </a:p>
        </p:txBody>
      </p:sp>
      <p:sp>
        <p:nvSpPr>
          <p:cNvPr id="6" name="Stat 1"/>
          <p:cNvSpPr/>
          <p:nvPr/>
        </p:nvSpPr>
        <p:spPr>
          <a:xfrm>
            <a:off x="8229600" y="1600200"/>
            <a:ext cx="3383280" cy="1097280"/>
          </a:xfrm>
          <a:prstGeom prst="roundRect">
            <a:avLst>
              <a:gd name="adj" fmla="val 10000"/>
            </a:avLst>
          </a:prstGeom>
          <a:solidFill>
            <a:schemeClr val="accent1"/>
          </a:solidFill>
          <a:ln/>
        </p:spPr>
      </p:sp>
      <p:sp>
        <p:nvSpPr>
          <p:cNvPr id="7" name="Text 4"/>
          <p:cNvSpPr txBox="1"/>
          <p:nvPr/>
        </p:nvSpPr>
        <p:spPr>
          <a:xfrm>
            <a:off x="8458200" y="1691640"/>
            <a:ext cx="2926080" cy="594360"/>
          </a:xfrm>
          <a:prstGeom prst="rect">
            <a:avLst/>
          </a:prstGeom>
          <a:noFill/>
          <a:ln/>
        </p:spPr>
        <p:txBody>
          <a:bodyPr wrap="square" lIns="0" tIns="0" rIns="0" bIns="0" rtlCol="0" anchor="ctr"/>
          <a:lstStyle/>
          <a:p>
            <a:pPr marL="0" indent="0">
              <a:buNone/>
            </a:pPr>
            <a:r>
              <a:rPr lang="en-US" sz="3000" b="1" dirty="0">
                <a:solidFill>
                  <a:schemeClr val="bg1"/>
                </a:solidFill>
              </a:rPr>
              <a:t>18</a:t>
            </a:r>
            <a:endParaRPr lang="en-US" sz="3000" dirty="0"/>
          </a:p>
        </p:txBody>
      </p:sp>
      <p:sp>
        <p:nvSpPr>
          <p:cNvPr id="8" name="Text 5"/>
          <p:cNvSpPr txBox="1"/>
          <p:nvPr/>
        </p:nvSpPr>
        <p:spPr>
          <a:xfrm>
            <a:off x="8458200" y="2286000"/>
            <a:ext cx="2926080" cy="320040"/>
          </a:xfrm>
          <a:prstGeom prst="rect">
            <a:avLst/>
          </a:prstGeom>
          <a:noFill/>
          <a:ln/>
        </p:spPr>
        <p:txBody>
          <a:bodyPr wrap="square" lIns="0" tIns="0" rIns="0" bIns="0" rtlCol="0" anchor="ctr"/>
          <a:lstStyle/>
          <a:p>
            <a:pPr marL="0" indent="0">
              <a:buNone/>
            </a:pPr>
            <a:r>
              <a:rPr lang="en-US" sz="1400" dirty="0">
                <a:solidFill>
                  <a:schemeClr val="accent6"/>
                </a:solidFill>
              </a:rPr>
              <a:t>Java source files in 6 packages</a:t>
            </a:r>
            <a:endParaRPr lang="en-US" sz="1400" dirty="0"/>
          </a:p>
        </p:txBody>
      </p:sp>
      <p:sp>
        <p:nvSpPr>
          <p:cNvPr id="9" name="Stat 2"/>
          <p:cNvSpPr/>
          <p:nvPr/>
        </p:nvSpPr>
        <p:spPr>
          <a:xfrm>
            <a:off x="8229600" y="2971800"/>
            <a:ext cx="3383280" cy="1097280"/>
          </a:xfrm>
          <a:prstGeom prst="roundRect">
            <a:avLst>
              <a:gd name="adj" fmla="val 10000"/>
            </a:avLst>
          </a:prstGeom>
          <a:solidFill>
            <a:schemeClr val="accent1"/>
          </a:solidFill>
          <a:ln/>
        </p:spPr>
      </p:sp>
      <p:sp>
        <p:nvSpPr>
          <p:cNvPr id="10" name="Text 7"/>
          <p:cNvSpPr txBox="1"/>
          <p:nvPr/>
        </p:nvSpPr>
        <p:spPr>
          <a:xfrm>
            <a:off x="8458200" y="3063240"/>
            <a:ext cx="2926080" cy="594360"/>
          </a:xfrm>
          <a:prstGeom prst="rect">
            <a:avLst/>
          </a:prstGeom>
          <a:noFill/>
          <a:ln/>
        </p:spPr>
        <p:txBody>
          <a:bodyPr wrap="square" lIns="0" tIns="0" rIns="0" bIns="0" rtlCol="0" anchor="ctr"/>
          <a:lstStyle/>
          <a:p>
            <a:pPr marL="0" indent="0">
              <a:buNone/>
            </a:pPr>
            <a:r>
              <a:rPr lang="en-US" sz="3000" b="1" dirty="0">
                <a:solidFill>
                  <a:schemeClr val="bg1"/>
                </a:solidFill>
              </a:rPr>
              <a:t>19/19</a:t>
            </a:r>
            <a:endParaRPr lang="en-US" sz="3000" dirty="0"/>
          </a:p>
        </p:txBody>
      </p:sp>
      <p:sp>
        <p:nvSpPr>
          <p:cNvPr id="11" name="Text 8"/>
          <p:cNvSpPr txBox="1"/>
          <p:nvPr/>
        </p:nvSpPr>
        <p:spPr>
          <a:xfrm>
            <a:off x="8458200" y="3657600"/>
            <a:ext cx="2926080" cy="320040"/>
          </a:xfrm>
          <a:prstGeom prst="rect">
            <a:avLst/>
          </a:prstGeom>
          <a:noFill/>
          <a:ln/>
        </p:spPr>
        <p:txBody>
          <a:bodyPr wrap="square" lIns="0" tIns="0" rIns="0" bIns="0" rtlCol="0" anchor="ctr"/>
          <a:lstStyle/>
          <a:p>
            <a:pPr marL="0" indent="0">
              <a:buNone/>
            </a:pPr>
            <a:r>
              <a:rPr lang="en-US" sz="1400" dirty="0">
                <a:solidFill>
                  <a:schemeClr val="accent6"/>
                </a:solidFill>
              </a:rPr>
              <a:t>test cases passed</a:t>
            </a:r>
            <a:endParaRPr lang="en-US" sz="1400" dirty="0"/>
          </a:p>
        </p:txBody>
      </p:sp>
      <p:sp>
        <p:nvSpPr>
          <p:cNvPr id="12" name="Stat 3"/>
          <p:cNvSpPr/>
          <p:nvPr/>
        </p:nvSpPr>
        <p:spPr>
          <a:xfrm>
            <a:off x="8229600" y="4343400"/>
            <a:ext cx="3383280" cy="1097280"/>
          </a:xfrm>
          <a:prstGeom prst="roundRect">
            <a:avLst>
              <a:gd name="adj" fmla="val 10000"/>
            </a:avLst>
          </a:prstGeom>
          <a:solidFill>
            <a:schemeClr val="accent1"/>
          </a:solidFill>
          <a:ln/>
        </p:spPr>
      </p:sp>
      <p:sp>
        <p:nvSpPr>
          <p:cNvPr id="13" name="Text 10"/>
          <p:cNvSpPr txBox="1"/>
          <p:nvPr/>
        </p:nvSpPr>
        <p:spPr>
          <a:xfrm>
            <a:off x="8458200" y="4434840"/>
            <a:ext cx="2926080" cy="594360"/>
          </a:xfrm>
          <a:prstGeom prst="rect">
            <a:avLst/>
          </a:prstGeom>
          <a:noFill/>
          <a:ln/>
        </p:spPr>
        <p:txBody>
          <a:bodyPr wrap="square" lIns="0" tIns="0" rIns="0" bIns="0" rtlCol="0" anchor="ctr"/>
          <a:lstStyle/>
          <a:p>
            <a:pPr marL="0" indent="0">
              <a:buNone/>
            </a:pPr>
            <a:r>
              <a:rPr lang="en-US" sz="3000" b="1" dirty="0">
                <a:solidFill>
                  <a:schemeClr val="bg1"/>
                </a:solidFill>
              </a:rPr>
              <a:t>13</a:t>
            </a:r>
            <a:endParaRPr lang="en-US" sz="3000" dirty="0"/>
          </a:p>
        </p:txBody>
      </p:sp>
      <p:sp>
        <p:nvSpPr>
          <p:cNvPr id="14" name="Text 11"/>
          <p:cNvSpPr txBox="1"/>
          <p:nvPr/>
        </p:nvSpPr>
        <p:spPr>
          <a:xfrm>
            <a:off x="8458200" y="5029200"/>
            <a:ext cx="2926080" cy="320040"/>
          </a:xfrm>
          <a:prstGeom prst="rect">
            <a:avLst/>
          </a:prstGeom>
          <a:noFill/>
          <a:ln/>
        </p:spPr>
        <p:txBody>
          <a:bodyPr wrap="square" lIns="0" tIns="0" rIns="0" bIns="0" rtlCol="0" anchor="ctr"/>
          <a:lstStyle/>
          <a:p>
            <a:pPr marL="0" indent="0">
              <a:buNone/>
            </a:pPr>
            <a:r>
              <a:rPr lang="en-US" sz="1400" dirty="0">
                <a:solidFill>
                  <a:schemeClr val="accent6"/>
                </a:solidFill>
              </a:rPr>
              <a:t>shortage cases detected in sample data</a:t>
            </a:r>
            <a:endParaRPr lang="en-US" sz="1400" dirty="0"/>
          </a:p>
        </p:txBody>
      </p:sp>
    </p:spTree>
  </p:cSld>
  <p:clrMapOvr>
    <a:masterClrMapping/>
  </p:clrMapOvr>
</p:sld>
</file>

<file path=ppt/theme/theme1.xml><?xml version="1.0" encoding="utf-8"?>
<a:theme xmlns:a="http://schemas.openxmlformats.org/drawingml/2006/main" name="Attendance Green">
  <a:themeElements>
    <a:clrScheme name="Attendance Green">
      <a:dk1>
        <a:srgbClr val="1B2B27"/>
      </a:dk1>
      <a:lt1>
        <a:srgbClr val="FFFFFF"/>
      </a:lt1>
      <a:dk2>
        <a:srgbClr val="0F2A24"/>
      </a:dk2>
      <a:lt2>
        <a:srgbClr val="EEF4F2"/>
      </a:lt2>
      <a:accent1>
        <a:srgbClr val="1F6F5C"/>
      </a:accent1>
      <a:accent2>
        <a:srgbClr val="F2A93B"/>
      </a:accent2>
      <a:accent3>
        <a:srgbClr val="D64545"/>
      </a:accent3>
      <a:accent4>
        <a:srgbClr val="2E9E6A"/>
      </a:accent4>
      <a:accent5>
        <a:srgbClr val="5B6B66"/>
      </a:accent5>
      <a:accent6>
        <a:srgbClr val="9CC7BA"/>
      </a:accent6>
      <a:hlink>
        <a:srgbClr val="1F6F5C"/>
      </a:hlink>
      <a:folHlink>
        <a:srgbClr val="5B6B66"/>
      </a:folHlink>
    </a:clrScheme>
    <a:fontScheme name="Attendance Gree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117</TotalTime>
  <Words>1692</Words>
  <Application>Microsoft Office PowerPoint</Application>
  <PresentationFormat>Widescreen</PresentationFormat>
  <Paragraphs>196</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Cambria</vt:lpstr>
      <vt:lpstr>Courier New</vt:lpstr>
      <vt:lpstr>Attendance Green</vt:lpstr>
      <vt:lpstr>Attendance Monitoring &amp; Shortage Prediction System</vt:lpstr>
      <vt:lpstr>Problem Statement &amp; Use Case</vt:lpstr>
      <vt:lpstr>Object-Oriented Design</vt:lpstr>
      <vt:lpstr>Core Java Concepts Used</vt:lpstr>
      <vt:lpstr>Program Flow &amp; Implementation</vt:lpstr>
      <vt:lpstr>Application Demonstration</vt:lpstr>
      <vt:lpstr>Testing, Results &amp; Limitations</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Attendance Monitoring &amp; Shortage Prediction System</dc:title>
  <dc:subject>PptxGenJS Presentation</dc:subject>
  <dc:creator>PptxGenJS</dc:creator>
  <cp:lastModifiedBy>ERIC RUFUS</cp:lastModifiedBy>
  <cp:revision>2</cp:revision>
  <dcterms:created xsi:type="dcterms:W3CDTF">2026-10-26T17:30:59Z</dcterms:created>
  <dcterms:modified xsi:type="dcterms:W3CDTF">2026-10-26T19:31:07Z</dcterms:modified>
</cp:coreProperties>
</file>